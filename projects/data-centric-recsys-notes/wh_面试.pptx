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8"/>
  </p:notesMasterIdLst>
  <p:sldIdLst>
    <p:sldId id="257" r:id="rId2"/>
    <p:sldId id="340" r:id="rId3"/>
    <p:sldId id="306" r:id="rId4"/>
    <p:sldId id="342" r:id="rId5"/>
    <p:sldId id="344" r:id="rId6"/>
    <p:sldId id="354" r:id="rId7"/>
    <p:sldId id="345" r:id="rId8"/>
    <p:sldId id="355" r:id="rId9"/>
    <p:sldId id="356" r:id="rId10"/>
    <p:sldId id="347" r:id="rId11"/>
    <p:sldId id="348" r:id="rId12"/>
    <p:sldId id="357" r:id="rId13"/>
    <p:sldId id="353" r:id="rId14"/>
    <p:sldId id="358" r:id="rId15"/>
    <p:sldId id="325" r:id="rId16"/>
    <p:sldId id="32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DB5F2D5-AF20-2F41-94C3-60A8200A3B18}">
          <p14:sldIdLst>
            <p14:sldId id="257"/>
            <p14:sldId id="340"/>
          </p14:sldIdLst>
        </p14:section>
        <p14:section name="paper1" id="{D50FE85C-D9A9-6144-BCD0-D8D13FF0A6E0}">
          <p14:sldIdLst>
            <p14:sldId id="306"/>
            <p14:sldId id="342"/>
            <p14:sldId id="344"/>
            <p14:sldId id="354"/>
            <p14:sldId id="345"/>
            <p14:sldId id="355"/>
            <p14:sldId id="356"/>
            <p14:sldId id="347"/>
            <p14:sldId id="348"/>
          </p14:sldIdLst>
        </p14:section>
        <p14:section name="idea" id="{B45C1973-740E-7D4A-B4F7-EE1BF3F1581B}">
          <p14:sldIdLst>
            <p14:sldId id="357"/>
            <p14:sldId id="353"/>
            <p14:sldId id="358"/>
          </p14:sldIdLst>
        </p14:section>
        <p14:section name="something maybe useful" id="{FBCCF96E-38AC-B04A-9529-29D2E6F54B9D}">
          <p14:sldIdLst>
            <p14:sldId id="325"/>
            <p14:sldId id="32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EE50C6-13ED-BA41-CCF6-B27A9E73D6C6}" name="8618999381865" initials="8" userId="26cfa701883dc29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69DAD"/>
    <a:srgbClr val="003C5A"/>
    <a:srgbClr val="003C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595B86-7D4F-2144-825C-3666597F58B5}" v="108" dt="2026-04-27T12:27:47.1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13"/>
    <p:restoredTop sz="88273"/>
  </p:normalViewPr>
  <p:slideViewPr>
    <p:cSldViewPr snapToGrid="0">
      <p:cViewPr varScale="1">
        <p:scale>
          <a:sx n="95" d="100"/>
          <a:sy n="95" d="100"/>
        </p:scale>
        <p:origin x="14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F0F11-FAFC-A246-8FE0-ADED8E16062E}" type="datetimeFigureOut">
              <a:rPr kumimoji="1" lang="zh-CN" altLang="en-US" smtClean="0"/>
              <a:t>2026/6/8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EE865-EDA9-9743-847F-C6E2EB799115}" type="slidenum">
              <a:rPr kumimoji="1" lang="zh-CN" altLang="en-US" smtClean="0"/>
              <a:t>‹#›</a:t>
            </a:fld>
            <a:endParaRPr kumimoji="1" lang="zh-CN" altLang="en-US"/>
          </a:p>
        </p:txBody>
      </p:sp>
    </p:spTree>
    <p:extLst>
      <p:ext uri="{BB962C8B-B14F-4D97-AF65-F5344CB8AC3E}">
        <p14:creationId xmlns:p14="http://schemas.microsoft.com/office/powerpoint/2010/main" val="771445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1DEE865-EDA9-9743-847F-C6E2EB799115}" type="slidenum">
              <a:rPr kumimoji="1" lang="zh-CN" altLang="en-US" smtClean="0"/>
              <a:t>0</a:t>
            </a:fld>
            <a:endParaRPr kumimoji="1" lang="zh-CN" altLang="en-US"/>
          </a:p>
        </p:txBody>
      </p:sp>
    </p:spTree>
    <p:extLst>
      <p:ext uri="{BB962C8B-B14F-4D97-AF65-F5344CB8AC3E}">
        <p14:creationId xmlns:p14="http://schemas.microsoft.com/office/powerpoint/2010/main" val="2242429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B2793-30F5-EA06-BBA2-DD4D747FED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E9B3E9-200F-7DED-844E-5346FDFA6D9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6C7D53-8AA0-34BB-E9A2-A4D20709B04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0E89AF71-CBDE-8429-42FC-C84379DE9D3F}"/>
              </a:ext>
            </a:extLst>
          </p:cNvPr>
          <p:cNvSpPr>
            <a:spLocks noGrp="1"/>
          </p:cNvSpPr>
          <p:nvPr>
            <p:ph type="sldNum" sz="quarter" idx="5"/>
          </p:nvPr>
        </p:nvSpPr>
        <p:spPr/>
        <p:txBody>
          <a:bodyPr/>
          <a:lstStyle/>
          <a:p>
            <a:fld id="{C1DEE865-EDA9-9743-847F-C6E2EB799115}" type="slidenum">
              <a:rPr kumimoji="1" lang="zh-CN" altLang="en-US" smtClean="0"/>
              <a:t>1</a:t>
            </a:fld>
            <a:endParaRPr kumimoji="1" lang="zh-CN" altLang="en-US"/>
          </a:p>
        </p:txBody>
      </p:sp>
    </p:spTree>
    <p:extLst>
      <p:ext uri="{BB962C8B-B14F-4D97-AF65-F5344CB8AC3E}">
        <p14:creationId xmlns:p14="http://schemas.microsoft.com/office/powerpoint/2010/main" val="2149099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56B6-5F25-5BB8-0027-01B0B940C9F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74DD1B-E7E1-B6D1-F52D-B338EA37934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A47F7-55ED-C322-F5ED-F66D89261064}"/>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173DD074-ABAD-F0E4-159F-42A2101DC0EF}"/>
              </a:ext>
            </a:extLst>
          </p:cNvPr>
          <p:cNvSpPr>
            <a:spLocks noGrp="1"/>
          </p:cNvSpPr>
          <p:nvPr>
            <p:ph type="sldNum" sz="quarter" idx="5"/>
          </p:nvPr>
        </p:nvSpPr>
        <p:spPr/>
        <p:txBody>
          <a:bodyPr/>
          <a:lstStyle/>
          <a:p>
            <a:fld id="{C1DEE865-EDA9-9743-847F-C6E2EB799115}" type="slidenum">
              <a:rPr kumimoji="1" lang="zh-CN" altLang="en-US" smtClean="0"/>
              <a:t>2</a:t>
            </a:fld>
            <a:endParaRPr kumimoji="1" lang="zh-CN" altLang="en-US"/>
          </a:p>
        </p:txBody>
      </p:sp>
    </p:spTree>
    <p:extLst>
      <p:ext uri="{BB962C8B-B14F-4D97-AF65-F5344CB8AC3E}">
        <p14:creationId xmlns:p14="http://schemas.microsoft.com/office/powerpoint/2010/main" val="3635685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8D0B2-3503-A699-C5C2-55C941AF51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0E2E0A7-9530-9DCD-131B-4640A2267A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7EE861D-D45F-F649-5A13-2B2BB9389930}"/>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CF01749-53FC-B8A6-4BCB-3C8E88E81AA6}"/>
              </a:ext>
            </a:extLst>
          </p:cNvPr>
          <p:cNvSpPr>
            <a:spLocks noGrp="1"/>
          </p:cNvSpPr>
          <p:nvPr>
            <p:ph type="sldNum" sz="quarter" idx="5"/>
          </p:nvPr>
        </p:nvSpPr>
        <p:spPr/>
        <p:txBody>
          <a:bodyPr/>
          <a:lstStyle/>
          <a:p>
            <a:fld id="{C1DEE865-EDA9-9743-847F-C6E2EB799115}" type="slidenum">
              <a:rPr kumimoji="1" lang="zh-CN" altLang="en-US" smtClean="0"/>
              <a:t>3</a:t>
            </a:fld>
            <a:endParaRPr kumimoji="1" lang="zh-CN" altLang="en-US"/>
          </a:p>
        </p:txBody>
      </p:sp>
    </p:spTree>
    <p:extLst>
      <p:ext uri="{BB962C8B-B14F-4D97-AF65-F5344CB8AC3E}">
        <p14:creationId xmlns:p14="http://schemas.microsoft.com/office/powerpoint/2010/main" val="4150000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9A5AD-82D9-FC55-DA3A-0DD48488143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EC84B9-7E30-A67A-17C1-60B9A3B88BB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285E81-5C3F-068C-FBCD-BE5B71DEB190}"/>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EC39175-9CDA-27BF-B89A-EB259097906A}"/>
              </a:ext>
            </a:extLst>
          </p:cNvPr>
          <p:cNvSpPr>
            <a:spLocks noGrp="1"/>
          </p:cNvSpPr>
          <p:nvPr>
            <p:ph type="sldNum" sz="quarter" idx="5"/>
          </p:nvPr>
        </p:nvSpPr>
        <p:spPr/>
        <p:txBody>
          <a:bodyPr/>
          <a:lstStyle/>
          <a:p>
            <a:fld id="{C1DEE865-EDA9-9743-847F-C6E2EB799115}" type="slidenum">
              <a:rPr kumimoji="1" lang="zh-CN" altLang="en-US" smtClean="0"/>
              <a:t>4</a:t>
            </a:fld>
            <a:endParaRPr kumimoji="1" lang="zh-CN" altLang="en-US"/>
          </a:p>
        </p:txBody>
      </p:sp>
    </p:spTree>
    <p:extLst>
      <p:ext uri="{BB962C8B-B14F-4D97-AF65-F5344CB8AC3E}">
        <p14:creationId xmlns:p14="http://schemas.microsoft.com/office/powerpoint/2010/main" val="3503760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664B5-86DB-F4F5-E5DF-355FDD4941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CA73C9-DDCB-B16E-DBC0-C121BCF615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EC62F42-B745-9639-A0CA-28767E9D3CBA}"/>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51913CD-02A5-DCB5-5954-3F86D1D93BD7}"/>
              </a:ext>
            </a:extLst>
          </p:cNvPr>
          <p:cNvSpPr>
            <a:spLocks noGrp="1"/>
          </p:cNvSpPr>
          <p:nvPr>
            <p:ph type="sldNum" sz="quarter" idx="5"/>
          </p:nvPr>
        </p:nvSpPr>
        <p:spPr/>
        <p:txBody>
          <a:bodyPr/>
          <a:lstStyle/>
          <a:p>
            <a:fld id="{C1DEE865-EDA9-9743-847F-C6E2EB799115}" type="slidenum">
              <a:rPr kumimoji="1" lang="zh-CN" altLang="en-US" smtClean="0"/>
              <a:t>5</a:t>
            </a:fld>
            <a:endParaRPr kumimoji="1" lang="zh-CN" altLang="en-US"/>
          </a:p>
        </p:txBody>
      </p:sp>
    </p:spTree>
    <p:extLst>
      <p:ext uri="{BB962C8B-B14F-4D97-AF65-F5344CB8AC3E}">
        <p14:creationId xmlns:p14="http://schemas.microsoft.com/office/powerpoint/2010/main" val="3086301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11587-7D0F-8153-98FD-FC2BFFA42F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F9EB63-CCF4-AE9E-2162-9DF33B6D51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6B7200B-7A2C-155C-DDFF-633FDDA9A6CF}"/>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35E76CA-BB08-BEE7-3592-11ADDC7AC2C9}"/>
              </a:ext>
            </a:extLst>
          </p:cNvPr>
          <p:cNvSpPr>
            <a:spLocks noGrp="1"/>
          </p:cNvSpPr>
          <p:nvPr>
            <p:ph type="sldNum" sz="quarter" idx="5"/>
          </p:nvPr>
        </p:nvSpPr>
        <p:spPr/>
        <p:txBody>
          <a:bodyPr/>
          <a:lstStyle/>
          <a:p>
            <a:fld id="{C1DEE865-EDA9-9743-847F-C6E2EB799115}" type="slidenum">
              <a:rPr kumimoji="1" lang="zh-CN" altLang="en-US" smtClean="0"/>
              <a:t>6</a:t>
            </a:fld>
            <a:endParaRPr kumimoji="1" lang="zh-CN" altLang="en-US"/>
          </a:p>
        </p:txBody>
      </p:sp>
    </p:spTree>
    <p:extLst>
      <p:ext uri="{BB962C8B-B14F-4D97-AF65-F5344CB8AC3E}">
        <p14:creationId xmlns:p14="http://schemas.microsoft.com/office/powerpoint/2010/main" val="3829308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78F01-E1F1-413A-A007-37ED1735F3C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347BA41-AA28-7971-21C0-290CBB9330A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C7ABBC-2D15-AC3B-0A53-9B1DA7E22B94}"/>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D04F97C-A075-8496-8C79-261B3907B9F5}"/>
              </a:ext>
            </a:extLst>
          </p:cNvPr>
          <p:cNvSpPr>
            <a:spLocks noGrp="1"/>
          </p:cNvSpPr>
          <p:nvPr>
            <p:ph type="sldNum" sz="quarter" idx="5"/>
          </p:nvPr>
        </p:nvSpPr>
        <p:spPr/>
        <p:txBody>
          <a:bodyPr/>
          <a:lstStyle/>
          <a:p>
            <a:fld id="{C1DEE865-EDA9-9743-847F-C6E2EB799115}" type="slidenum">
              <a:rPr kumimoji="1" lang="zh-CN" altLang="en-US" smtClean="0"/>
              <a:t>7</a:t>
            </a:fld>
            <a:endParaRPr kumimoji="1" lang="zh-CN" altLang="en-US"/>
          </a:p>
        </p:txBody>
      </p:sp>
    </p:spTree>
    <p:extLst>
      <p:ext uri="{BB962C8B-B14F-4D97-AF65-F5344CB8AC3E}">
        <p14:creationId xmlns:p14="http://schemas.microsoft.com/office/powerpoint/2010/main" val="3979036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5FA0-414D-342D-0857-AC57029EB2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129337-5945-29A2-3335-930CA388D8B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17080E-6ECE-8B9F-E053-86ADBBFC566B}"/>
              </a:ext>
            </a:extLst>
          </p:cNvPr>
          <p:cNvSpPr>
            <a:spLocks noGrp="1"/>
          </p:cNvSpPr>
          <p:nvPr>
            <p:ph type="body" idx="1"/>
          </p:nvPr>
        </p:nvSpPr>
        <p:spPr/>
        <p:txBody>
          <a:bodyPr/>
          <a:lstStyle/>
          <a:p>
            <a:pPr marL="228600" indent="-228600">
              <a:buAutoNum type="arabicPeriod"/>
            </a:pPr>
            <a:r>
              <a:rPr lang="zh-CN" altLang="en-US" sz="1200" b="0" i="0" u="none" strike="noStrike" kern="1200" dirty="0">
                <a:solidFill>
                  <a:schemeClr val="tx1"/>
                </a:solidFill>
                <a:effectLst/>
                <a:latin typeface="+mn-lt"/>
                <a:ea typeface="+mn-ea"/>
                <a:cs typeface="+mn-cs"/>
              </a:rPr>
              <a:t>第一轮的模型迭代的效果影响后面迭代的效果</a:t>
            </a:r>
            <a:endParaRPr lang="en-US" altLang="zh-CN" sz="1200" b="0" i="0" u="none" strike="noStrike" kern="1200" dirty="0">
              <a:solidFill>
                <a:schemeClr val="tx1"/>
              </a:solidFill>
              <a:effectLst/>
              <a:latin typeface="+mn-lt"/>
              <a:ea typeface="+mn-ea"/>
              <a:cs typeface="+mn-cs"/>
            </a:endParaRPr>
          </a:p>
          <a:p>
            <a:pPr marL="228600" indent="-228600">
              <a:buAutoNum type="arabicPeriod"/>
            </a:pPr>
            <a:r>
              <a:rPr lang="zh-CN" altLang="en-US" dirty="0"/>
              <a:t>没有控制不同类别的</a:t>
            </a:r>
            <a:r>
              <a:rPr lang="en-US" altLang="zh-CN" dirty="0"/>
              <a:t>item</a:t>
            </a:r>
            <a:r>
              <a:rPr lang="zh-CN" altLang="en-US" dirty="0"/>
              <a:t>库的覆盖，是不是可能会偏向于单一模式</a:t>
            </a:r>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51368E0-D475-53DF-849A-583F929B7C7A}"/>
              </a:ext>
            </a:extLst>
          </p:cNvPr>
          <p:cNvSpPr>
            <a:spLocks noGrp="1"/>
          </p:cNvSpPr>
          <p:nvPr>
            <p:ph type="sldNum" sz="quarter" idx="5"/>
          </p:nvPr>
        </p:nvSpPr>
        <p:spPr/>
        <p:txBody>
          <a:bodyPr/>
          <a:lstStyle/>
          <a:p>
            <a:fld id="{C1DEE865-EDA9-9743-847F-C6E2EB799115}" type="slidenum">
              <a:rPr kumimoji="1" lang="zh-CN" altLang="en-US" smtClean="0"/>
              <a:t>8</a:t>
            </a:fld>
            <a:endParaRPr kumimoji="1" lang="zh-CN" altLang="en-US"/>
          </a:p>
        </p:txBody>
      </p:sp>
    </p:spTree>
    <p:extLst>
      <p:ext uri="{BB962C8B-B14F-4D97-AF65-F5344CB8AC3E}">
        <p14:creationId xmlns:p14="http://schemas.microsoft.com/office/powerpoint/2010/main" val="1509044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7BFE6-25E4-5C44-0821-0962BEFDAB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C61993-A2BB-081C-EE32-CF45739FA7C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42261CA-13A3-0E0F-1CCE-A6ACD6B8A405}"/>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EFA956FD-6233-C3A9-869D-65F1E271F527}"/>
              </a:ext>
            </a:extLst>
          </p:cNvPr>
          <p:cNvSpPr>
            <a:spLocks noGrp="1"/>
          </p:cNvSpPr>
          <p:nvPr>
            <p:ph type="sldNum" sz="quarter" idx="5"/>
          </p:nvPr>
        </p:nvSpPr>
        <p:spPr/>
        <p:txBody>
          <a:bodyPr/>
          <a:lstStyle/>
          <a:p>
            <a:fld id="{C1DEE865-EDA9-9743-847F-C6E2EB799115}" type="slidenum">
              <a:rPr kumimoji="1" lang="zh-CN" altLang="en-US" smtClean="0"/>
              <a:t>9</a:t>
            </a:fld>
            <a:endParaRPr kumimoji="1" lang="zh-CN" altLang="en-US"/>
          </a:p>
        </p:txBody>
      </p:sp>
    </p:spTree>
    <p:extLst>
      <p:ext uri="{BB962C8B-B14F-4D97-AF65-F5344CB8AC3E}">
        <p14:creationId xmlns:p14="http://schemas.microsoft.com/office/powerpoint/2010/main" val="1454910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48FEF-6278-4F68-7AC5-97DC275261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BD5C28-8FDA-F231-6DC6-98AF2376F2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89CACD-9EC2-F0A4-50F5-E9EBCF5C4481}"/>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79E0480-AD4E-2CFD-1BE5-1922516608A6}"/>
              </a:ext>
            </a:extLst>
          </p:cNvPr>
          <p:cNvSpPr>
            <a:spLocks noGrp="1"/>
          </p:cNvSpPr>
          <p:nvPr>
            <p:ph type="sldNum" sz="quarter" idx="5"/>
          </p:nvPr>
        </p:nvSpPr>
        <p:spPr/>
        <p:txBody>
          <a:bodyPr/>
          <a:lstStyle/>
          <a:p>
            <a:fld id="{C1DEE865-EDA9-9743-847F-C6E2EB799115}" type="slidenum">
              <a:rPr kumimoji="1" lang="zh-CN" altLang="en-US" smtClean="0"/>
              <a:t>10</a:t>
            </a:fld>
            <a:endParaRPr kumimoji="1" lang="zh-CN" altLang="en-US"/>
          </a:p>
        </p:txBody>
      </p:sp>
    </p:spTree>
    <p:extLst>
      <p:ext uri="{BB962C8B-B14F-4D97-AF65-F5344CB8AC3E}">
        <p14:creationId xmlns:p14="http://schemas.microsoft.com/office/powerpoint/2010/main" val="41731955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2A9C3-5418-D98D-3ECA-A68C791190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984044-DCA1-02B9-9904-996F4049D90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4397D8-B796-54EF-DC7D-B708D6A15A3E}"/>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6EEF69D-50AB-2B77-3614-A86A55857905}"/>
              </a:ext>
            </a:extLst>
          </p:cNvPr>
          <p:cNvSpPr>
            <a:spLocks noGrp="1"/>
          </p:cNvSpPr>
          <p:nvPr>
            <p:ph type="sldNum" sz="quarter" idx="5"/>
          </p:nvPr>
        </p:nvSpPr>
        <p:spPr/>
        <p:txBody>
          <a:bodyPr/>
          <a:lstStyle/>
          <a:p>
            <a:fld id="{C1DEE865-EDA9-9743-847F-C6E2EB799115}" type="slidenum">
              <a:rPr kumimoji="1" lang="zh-CN" altLang="en-US" smtClean="0"/>
              <a:t>11</a:t>
            </a:fld>
            <a:endParaRPr kumimoji="1" lang="zh-CN" altLang="en-US"/>
          </a:p>
        </p:txBody>
      </p:sp>
    </p:spTree>
    <p:extLst>
      <p:ext uri="{BB962C8B-B14F-4D97-AF65-F5344CB8AC3E}">
        <p14:creationId xmlns:p14="http://schemas.microsoft.com/office/powerpoint/2010/main" val="448446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4164D-1245-6F95-F9C9-5E10CAEFFF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29C7D08-C6F4-5B18-55FF-612B41F5D9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C222C6-8149-42AC-43D8-5774311E6A5A}"/>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2681B71-5F9E-342C-7F57-54D61C32E34F}"/>
              </a:ext>
            </a:extLst>
          </p:cNvPr>
          <p:cNvSpPr>
            <a:spLocks noGrp="1"/>
          </p:cNvSpPr>
          <p:nvPr>
            <p:ph type="sldNum" sz="quarter" idx="5"/>
          </p:nvPr>
        </p:nvSpPr>
        <p:spPr/>
        <p:txBody>
          <a:bodyPr/>
          <a:lstStyle/>
          <a:p>
            <a:fld id="{C1DEE865-EDA9-9743-847F-C6E2EB799115}" type="slidenum">
              <a:rPr kumimoji="1" lang="zh-CN" altLang="en-US" smtClean="0"/>
              <a:t>12</a:t>
            </a:fld>
            <a:endParaRPr kumimoji="1" lang="zh-CN" altLang="en-US"/>
          </a:p>
        </p:txBody>
      </p:sp>
    </p:spTree>
    <p:extLst>
      <p:ext uri="{BB962C8B-B14F-4D97-AF65-F5344CB8AC3E}">
        <p14:creationId xmlns:p14="http://schemas.microsoft.com/office/powerpoint/2010/main" val="671453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5903-5B88-D2B9-A526-462C6A125B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890195C-7988-1D77-9EDF-A936DCBE74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18D11F-6448-1CC2-E673-AFB4535B5E15}"/>
              </a:ext>
            </a:extLst>
          </p:cNvPr>
          <p:cNvSpPr>
            <a:spLocks noGrp="1"/>
          </p:cNvSpPr>
          <p:nvPr>
            <p:ph type="body" idx="1"/>
          </p:nvPr>
        </p:nvSpPr>
        <p:spPr/>
        <p:txBody>
          <a:bodyPr/>
          <a:lstStyle/>
          <a:p>
            <a:endParaRPr lang="zh-CN" altLang="en-US" sz="1200" b="0" i="0" u="none" strike="noStrike"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78599E3A-EEF3-8BF6-9D44-4C4DF0E67DB8}"/>
              </a:ext>
            </a:extLst>
          </p:cNvPr>
          <p:cNvSpPr>
            <a:spLocks noGrp="1"/>
          </p:cNvSpPr>
          <p:nvPr>
            <p:ph type="sldNum" sz="quarter" idx="5"/>
          </p:nvPr>
        </p:nvSpPr>
        <p:spPr/>
        <p:txBody>
          <a:bodyPr/>
          <a:lstStyle/>
          <a:p>
            <a:fld id="{C1DEE865-EDA9-9743-847F-C6E2EB799115}" type="slidenum">
              <a:rPr kumimoji="1" lang="zh-CN" altLang="en-US" smtClean="0"/>
              <a:t>13</a:t>
            </a:fld>
            <a:endParaRPr kumimoji="1" lang="zh-CN" altLang="en-US"/>
          </a:p>
        </p:txBody>
      </p:sp>
    </p:spTree>
    <p:extLst>
      <p:ext uri="{BB962C8B-B14F-4D97-AF65-F5344CB8AC3E}">
        <p14:creationId xmlns:p14="http://schemas.microsoft.com/office/powerpoint/2010/main" val="3889566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4DE5D-5D96-0043-C060-17C11DE91CB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5DB619-898C-ED5A-D712-18C14D35AD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341EA4-F9F7-65FC-A98A-194A9B855EA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9BEC25C-EDEE-546A-E649-DB349D6DA985}"/>
              </a:ext>
            </a:extLst>
          </p:cNvPr>
          <p:cNvSpPr>
            <a:spLocks noGrp="1"/>
          </p:cNvSpPr>
          <p:nvPr>
            <p:ph type="sldNum" sz="quarter" idx="5"/>
          </p:nvPr>
        </p:nvSpPr>
        <p:spPr/>
        <p:txBody>
          <a:bodyPr/>
          <a:lstStyle/>
          <a:p>
            <a:fld id="{C1DEE865-EDA9-9743-847F-C6E2EB799115}" type="slidenum">
              <a:rPr kumimoji="1" lang="zh-CN" altLang="en-US" smtClean="0"/>
              <a:t>14</a:t>
            </a:fld>
            <a:endParaRPr kumimoji="1" lang="zh-CN" altLang="en-US"/>
          </a:p>
        </p:txBody>
      </p:sp>
    </p:spTree>
    <p:extLst>
      <p:ext uri="{BB962C8B-B14F-4D97-AF65-F5344CB8AC3E}">
        <p14:creationId xmlns:p14="http://schemas.microsoft.com/office/powerpoint/2010/main" val="39702959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433AF-9C9E-1E80-05B3-E82B8C7A11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57444F-EF36-C481-76AD-DB023055F8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6432B82-6120-EFA1-D917-2C754E575593}"/>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7966D0A-2DB7-BAD4-63EA-9392162AAC8D}"/>
              </a:ext>
            </a:extLst>
          </p:cNvPr>
          <p:cNvSpPr>
            <a:spLocks noGrp="1"/>
          </p:cNvSpPr>
          <p:nvPr>
            <p:ph type="sldNum" sz="quarter" idx="5"/>
          </p:nvPr>
        </p:nvSpPr>
        <p:spPr/>
        <p:txBody>
          <a:bodyPr/>
          <a:lstStyle/>
          <a:p>
            <a:fld id="{C1DEE865-EDA9-9743-847F-C6E2EB799115}" type="slidenum">
              <a:rPr kumimoji="1" lang="zh-CN" altLang="en-US" smtClean="0"/>
              <a:t>15</a:t>
            </a:fld>
            <a:endParaRPr kumimoji="1" lang="zh-CN" altLang="en-US"/>
          </a:p>
        </p:txBody>
      </p:sp>
    </p:spTree>
    <p:extLst>
      <p:ext uri="{BB962C8B-B14F-4D97-AF65-F5344CB8AC3E}">
        <p14:creationId xmlns:p14="http://schemas.microsoft.com/office/powerpoint/2010/main" val="502985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F8377-CEAD-57B1-C5F9-1CF4541D600F}"/>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CB134177-560E-DFCC-86C5-B2E9398111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9BEF271-F92A-807F-BC3A-E8162E3F110C}"/>
              </a:ext>
            </a:extLst>
          </p:cNvPr>
          <p:cNvSpPr>
            <a:spLocks noGrp="1"/>
          </p:cNvSpPr>
          <p:nvPr>
            <p:ph type="dt" sz="half" idx="10"/>
          </p:nvPr>
        </p:nvSpPr>
        <p:spPr/>
        <p:txBody>
          <a:bodyPr/>
          <a:lstStyle/>
          <a:p>
            <a:fld id="{CB203AC1-B8A4-3C49-92C2-376D3415CA5B}"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8BB34190-8208-C53F-F70E-AEDF77E2F5B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07CF6FC-C9E4-472B-91DB-AD973B345549}"/>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10066598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B6F8BF-064E-5E49-9024-10C2E4E87D9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B4D8805-2146-3E6D-E6F8-2E5638A696E0}"/>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92E227A-6237-FB8B-D7DB-F0CF4B0D6AFB}"/>
              </a:ext>
            </a:extLst>
          </p:cNvPr>
          <p:cNvSpPr>
            <a:spLocks noGrp="1"/>
          </p:cNvSpPr>
          <p:nvPr>
            <p:ph type="dt" sz="half" idx="10"/>
          </p:nvPr>
        </p:nvSpPr>
        <p:spPr/>
        <p:txBody>
          <a:bodyPr/>
          <a:lstStyle/>
          <a:p>
            <a:fld id="{3F390B3E-C318-1D47-B27A-C2C49ADD7646}"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5FAA4715-77EA-00A7-2F5C-0FB2B6F0CDF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0C0192A-CB27-9D2D-0E6D-74924E7BA7CE}"/>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138885865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DB41EC-29CA-9E93-9ADA-8FDC3390B59E}"/>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7108C8E0-EDAF-0406-FAE4-77AE1C8C94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35E2B18-A7BC-E828-6778-2B9D1541450F}"/>
              </a:ext>
            </a:extLst>
          </p:cNvPr>
          <p:cNvSpPr>
            <a:spLocks noGrp="1"/>
          </p:cNvSpPr>
          <p:nvPr>
            <p:ph type="dt" sz="half" idx="10"/>
          </p:nvPr>
        </p:nvSpPr>
        <p:spPr/>
        <p:txBody>
          <a:bodyPr/>
          <a:lstStyle/>
          <a:p>
            <a:fld id="{E0ED0635-1FDD-AA48-B655-C8584D0C05E3}"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FBE0F0FD-260D-FB86-29C3-0ED412E24A7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0BDA0E0-EAAE-48C4-9BD1-98B622E6AD34}"/>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108916123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4D59C-D6C0-A786-197F-B4CB25972B76}"/>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FE3FC99-9A28-53C7-E7EF-4B86D6B8AC95}"/>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F68F25B6-E6ED-B841-C955-099148EE0FDF}"/>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35A6A34-5ACE-F653-763E-51F9A7F3ADC5}"/>
              </a:ext>
            </a:extLst>
          </p:cNvPr>
          <p:cNvSpPr>
            <a:spLocks noGrp="1"/>
          </p:cNvSpPr>
          <p:nvPr>
            <p:ph type="dt" sz="half" idx="10"/>
          </p:nvPr>
        </p:nvSpPr>
        <p:spPr/>
        <p:txBody>
          <a:bodyPr/>
          <a:lstStyle/>
          <a:p>
            <a:fld id="{4A909EF3-3021-B44E-8199-672B35C0C5C4}" type="datetime1">
              <a:rPr kumimoji="1" lang="zh-CN" altLang="en-US" smtClean="0"/>
              <a:t>2026/6/8</a:t>
            </a:fld>
            <a:endParaRPr kumimoji="1" lang="zh-CN" altLang="en-US"/>
          </a:p>
        </p:txBody>
      </p:sp>
      <p:sp>
        <p:nvSpPr>
          <p:cNvPr id="6" name="页脚占位符 5">
            <a:extLst>
              <a:ext uri="{FF2B5EF4-FFF2-40B4-BE49-F238E27FC236}">
                <a16:creationId xmlns:a16="http://schemas.microsoft.com/office/drawing/2014/main" id="{1A2C001D-6A64-02F4-9819-4C3903B8EB3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0CC7DDA-7BD7-7364-6910-EEC1E6A3E788}"/>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298362500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F50940-1D5D-AEDC-1BAF-DB5BD64F0ACA}"/>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2AC218D-B179-ED02-8379-32607D45F9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E1E54D5-1BA2-0DBD-8213-5D0FE852DF4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607815C-98D1-1DA3-B7B0-DFF386077F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A5F09ED-50B2-9BC8-CDEC-216668CB4C9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E30638FA-3585-CB89-086E-EE7C79FBF148}"/>
              </a:ext>
            </a:extLst>
          </p:cNvPr>
          <p:cNvSpPr>
            <a:spLocks noGrp="1"/>
          </p:cNvSpPr>
          <p:nvPr>
            <p:ph type="dt" sz="half" idx="10"/>
          </p:nvPr>
        </p:nvSpPr>
        <p:spPr/>
        <p:txBody>
          <a:bodyPr/>
          <a:lstStyle/>
          <a:p>
            <a:fld id="{440D621E-E29F-AF41-844C-A2DD07F524F0}" type="datetime1">
              <a:rPr kumimoji="1" lang="zh-CN" altLang="en-US" smtClean="0"/>
              <a:t>2026/6/8</a:t>
            </a:fld>
            <a:endParaRPr kumimoji="1" lang="zh-CN" altLang="en-US"/>
          </a:p>
        </p:txBody>
      </p:sp>
      <p:sp>
        <p:nvSpPr>
          <p:cNvPr id="8" name="页脚占位符 7">
            <a:extLst>
              <a:ext uri="{FF2B5EF4-FFF2-40B4-BE49-F238E27FC236}">
                <a16:creationId xmlns:a16="http://schemas.microsoft.com/office/drawing/2014/main" id="{2B4CEAF2-FE30-768B-D79F-2E5936A4F10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6BCE90E-E463-12C4-A694-06A32247CDFD}"/>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40275331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DA5C5-3632-04C0-9C17-ADB5DA2375E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793FAAC3-02AC-4808-C225-10A875BA4348}"/>
              </a:ext>
            </a:extLst>
          </p:cNvPr>
          <p:cNvSpPr>
            <a:spLocks noGrp="1"/>
          </p:cNvSpPr>
          <p:nvPr>
            <p:ph type="dt" sz="half" idx="10"/>
          </p:nvPr>
        </p:nvSpPr>
        <p:spPr/>
        <p:txBody>
          <a:bodyPr/>
          <a:lstStyle/>
          <a:p>
            <a:fld id="{2DB9A224-CCE6-114B-AF22-6C69F2C407A9}" type="datetime1">
              <a:rPr kumimoji="1" lang="zh-CN" altLang="en-US" smtClean="0"/>
              <a:t>2026/6/8</a:t>
            </a:fld>
            <a:endParaRPr kumimoji="1" lang="zh-CN" altLang="en-US"/>
          </a:p>
        </p:txBody>
      </p:sp>
      <p:sp>
        <p:nvSpPr>
          <p:cNvPr id="4" name="页脚占位符 3">
            <a:extLst>
              <a:ext uri="{FF2B5EF4-FFF2-40B4-BE49-F238E27FC236}">
                <a16:creationId xmlns:a16="http://schemas.microsoft.com/office/drawing/2014/main" id="{10F19472-D68F-5049-980C-9BF604F5B4CD}"/>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37E5319-F6EC-FA67-B489-0E2E76C85FA3}"/>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393299639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74A524E-1F78-4F4C-77FD-FC86924601A1}"/>
              </a:ext>
            </a:extLst>
          </p:cNvPr>
          <p:cNvSpPr>
            <a:spLocks noGrp="1"/>
          </p:cNvSpPr>
          <p:nvPr>
            <p:ph type="dt" sz="half" idx="10"/>
          </p:nvPr>
        </p:nvSpPr>
        <p:spPr/>
        <p:txBody>
          <a:bodyPr/>
          <a:lstStyle/>
          <a:p>
            <a:fld id="{F1581348-A602-3243-B18A-7BC6E11D67A9}" type="datetime1">
              <a:rPr kumimoji="1" lang="zh-CN" altLang="en-US" smtClean="0"/>
              <a:t>2026/6/8</a:t>
            </a:fld>
            <a:endParaRPr kumimoji="1" lang="zh-CN" altLang="en-US"/>
          </a:p>
        </p:txBody>
      </p:sp>
      <p:sp>
        <p:nvSpPr>
          <p:cNvPr id="3" name="页脚占位符 2">
            <a:extLst>
              <a:ext uri="{FF2B5EF4-FFF2-40B4-BE49-F238E27FC236}">
                <a16:creationId xmlns:a16="http://schemas.microsoft.com/office/drawing/2014/main" id="{0FCFDBC4-6CEE-D920-2FCB-D864FF157ACD}"/>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D41C63E-1A27-DFC5-9BCD-E3DA95BFC6ED}"/>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9189622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054375-DAB7-82F4-9FB6-2019635B3DB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967AFF1-664B-08B0-D68F-D9924BA1FD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64F628B2-A60C-F794-2CC4-4D337C802F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63CEBDF-F393-22A2-5A0C-66E14C0B9093}"/>
              </a:ext>
            </a:extLst>
          </p:cNvPr>
          <p:cNvSpPr>
            <a:spLocks noGrp="1"/>
          </p:cNvSpPr>
          <p:nvPr>
            <p:ph type="dt" sz="half" idx="10"/>
          </p:nvPr>
        </p:nvSpPr>
        <p:spPr/>
        <p:txBody>
          <a:bodyPr/>
          <a:lstStyle/>
          <a:p>
            <a:fld id="{6D59E92D-26FD-6542-A30F-6ACC862ED85B}" type="datetime1">
              <a:rPr kumimoji="1" lang="zh-CN" altLang="en-US" smtClean="0"/>
              <a:t>2026/6/8</a:t>
            </a:fld>
            <a:endParaRPr kumimoji="1" lang="zh-CN" altLang="en-US"/>
          </a:p>
        </p:txBody>
      </p:sp>
      <p:sp>
        <p:nvSpPr>
          <p:cNvPr id="6" name="页脚占位符 5">
            <a:extLst>
              <a:ext uri="{FF2B5EF4-FFF2-40B4-BE49-F238E27FC236}">
                <a16:creationId xmlns:a16="http://schemas.microsoft.com/office/drawing/2014/main" id="{E8466938-AE2E-2E93-9926-9ACA9007757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47EE744-4EA6-9C91-AA30-92D1F2AE77C5}"/>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3522677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864ADA-E72A-B866-5F34-20830C8640A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10EF889-C55B-7283-F88F-212B7B02B4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9D05E74-9958-8239-426E-B2AC2ACCAC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0A9B640-6AF9-E38C-D373-1D00DBEF26FD}"/>
              </a:ext>
            </a:extLst>
          </p:cNvPr>
          <p:cNvSpPr>
            <a:spLocks noGrp="1"/>
          </p:cNvSpPr>
          <p:nvPr>
            <p:ph type="dt" sz="half" idx="10"/>
          </p:nvPr>
        </p:nvSpPr>
        <p:spPr/>
        <p:txBody>
          <a:bodyPr/>
          <a:lstStyle/>
          <a:p>
            <a:fld id="{5E28FA2E-CFC9-7B47-BDA9-25E9FB2DFB18}" type="datetime1">
              <a:rPr kumimoji="1" lang="zh-CN" altLang="en-US" smtClean="0"/>
              <a:t>2026/6/8</a:t>
            </a:fld>
            <a:endParaRPr kumimoji="1" lang="zh-CN" altLang="en-US"/>
          </a:p>
        </p:txBody>
      </p:sp>
      <p:sp>
        <p:nvSpPr>
          <p:cNvPr id="6" name="页脚占位符 5">
            <a:extLst>
              <a:ext uri="{FF2B5EF4-FFF2-40B4-BE49-F238E27FC236}">
                <a16:creationId xmlns:a16="http://schemas.microsoft.com/office/drawing/2014/main" id="{01D25D0A-C953-0D0B-0BDA-690E9AF7B6F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9D14970C-4AE5-5412-2FD9-66B679FB34A6}"/>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9551637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3C3910-9960-3A2D-41CB-904AE88F163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1A616BA-CCDF-5337-30FB-E83CF3C63A2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C23E815-D782-E7D3-9338-0A6A0FAEFB3C}"/>
              </a:ext>
            </a:extLst>
          </p:cNvPr>
          <p:cNvSpPr>
            <a:spLocks noGrp="1"/>
          </p:cNvSpPr>
          <p:nvPr>
            <p:ph type="dt" sz="half" idx="10"/>
          </p:nvPr>
        </p:nvSpPr>
        <p:spPr/>
        <p:txBody>
          <a:bodyPr/>
          <a:lstStyle/>
          <a:p>
            <a:fld id="{618E2AC0-37B4-574F-A014-87F9CC232E2E}"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FD1C1252-8C60-F552-6B13-F1B1E512A8A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588C7AB-5128-0E46-AF6F-99C444F74F1C}"/>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36078957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FB11F09-E1FB-81D3-045C-CA8CE8A01E4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0EDAC20-A9C7-0E6E-21D6-9FA1989241E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7C07319-F01B-7538-F74C-DDFA20657EE6}"/>
              </a:ext>
            </a:extLst>
          </p:cNvPr>
          <p:cNvSpPr>
            <a:spLocks noGrp="1"/>
          </p:cNvSpPr>
          <p:nvPr>
            <p:ph type="dt" sz="half" idx="10"/>
          </p:nvPr>
        </p:nvSpPr>
        <p:spPr/>
        <p:txBody>
          <a:bodyPr/>
          <a:lstStyle/>
          <a:p>
            <a:fld id="{6BDCAE50-141C-6B4F-8269-D9BA07CF0259}"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EED9D67C-256D-6D2B-DEAD-D2078E7AB02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CDC9ED6-617E-4326-5837-1AC9C73543C5}"/>
              </a:ext>
            </a:extLst>
          </p:cNvPr>
          <p:cNvSpPr>
            <a:spLocks noGrp="1"/>
          </p:cNvSpPr>
          <p:nvPr>
            <p:ph type="sldNum" sz="quarter" idx="12"/>
          </p:nvPr>
        </p:nvSpPr>
        <p:spPr/>
        <p:txBody>
          <a:body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20162068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008BDBC-695E-0864-AB08-B7EB9133B6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B61D22B-2D13-BA37-D76E-7B33E1938D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D586764-B575-51B6-C916-D054D96BC5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71F604-BE57-294F-9566-9C8932F7304F}" type="datetime1">
              <a:rPr kumimoji="1" lang="zh-CN" altLang="en-US" smtClean="0"/>
              <a:t>2026/6/8</a:t>
            </a:fld>
            <a:endParaRPr kumimoji="1" lang="zh-CN" altLang="en-US"/>
          </a:p>
        </p:txBody>
      </p:sp>
      <p:sp>
        <p:nvSpPr>
          <p:cNvPr id="5" name="页脚占位符 4">
            <a:extLst>
              <a:ext uri="{FF2B5EF4-FFF2-40B4-BE49-F238E27FC236}">
                <a16:creationId xmlns:a16="http://schemas.microsoft.com/office/drawing/2014/main" id="{B5241022-7F8A-E0C0-111F-3AEA3B33F4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3B74DCD7-F6C4-BC35-34A7-8300D70C8A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F8D3FC-E4A1-684A-A978-3E74850AAFB0}" type="slidenum">
              <a:rPr kumimoji="1" lang="zh-CN" altLang="en-US" smtClean="0"/>
              <a:t>‹#›</a:t>
            </a:fld>
            <a:endParaRPr kumimoji="1" lang="zh-CN" altLang="en-US"/>
          </a:p>
        </p:txBody>
      </p:sp>
    </p:spTree>
    <p:extLst>
      <p:ext uri="{BB962C8B-B14F-4D97-AF65-F5344CB8AC3E}">
        <p14:creationId xmlns:p14="http://schemas.microsoft.com/office/powerpoint/2010/main" val="3906271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4369E-6400-78A2-3FDE-280515AC5DD3}"/>
              </a:ext>
            </a:extLst>
          </p:cNvPr>
          <p:cNvSpPr>
            <a:spLocks noGrp="1"/>
          </p:cNvSpPr>
          <p:nvPr>
            <p:ph type="ctrTitle"/>
          </p:nvPr>
        </p:nvSpPr>
        <p:spPr>
          <a:xfrm>
            <a:off x="914746" y="1944778"/>
            <a:ext cx="10165630" cy="1363198"/>
          </a:xfrm>
        </p:spPr>
        <p:txBody>
          <a:bodyPr>
            <a:noAutofit/>
          </a:bodyPr>
          <a:lstStyle/>
          <a:p>
            <a:r>
              <a:rPr kumimoji="1" lang="zh-CN" altLang="en-US" sz="6600" b="1" dirty="0">
                <a:solidFill>
                  <a:srgbClr val="003C5A"/>
                </a:solidFill>
                <a:latin typeface="Arial" panose="020B0604020202020204" pitchFamily="34" charset="0"/>
              </a:rPr>
              <a:t>文献阅读汇报</a:t>
            </a:r>
          </a:p>
        </p:txBody>
      </p:sp>
      <p:sp>
        <p:nvSpPr>
          <p:cNvPr id="3" name="副标题 2">
            <a:extLst>
              <a:ext uri="{FF2B5EF4-FFF2-40B4-BE49-F238E27FC236}">
                <a16:creationId xmlns:a16="http://schemas.microsoft.com/office/drawing/2014/main" id="{BF757DDB-7162-B298-C4ED-FCAFA2E137B8}"/>
              </a:ext>
            </a:extLst>
          </p:cNvPr>
          <p:cNvSpPr>
            <a:spLocks noGrp="1"/>
          </p:cNvSpPr>
          <p:nvPr>
            <p:ph type="subTitle" idx="1"/>
          </p:nvPr>
        </p:nvSpPr>
        <p:spPr>
          <a:xfrm>
            <a:off x="1524000" y="4323094"/>
            <a:ext cx="9144000" cy="1655762"/>
          </a:xfrm>
        </p:spPr>
        <p:txBody>
          <a:bodyPr>
            <a:noAutofit/>
          </a:bodyPr>
          <a:lstStyle/>
          <a:p>
            <a:r>
              <a:rPr kumimoji="1" lang="en" altLang="zh-CN" dirty="0">
                <a:solidFill>
                  <a:srgbClr val="505050"/>
                </a:solidFill>
                <a:latin typeface="Arial" panose="020B0604020202020204" pitchFamily="34" charset="0"/>
              </a:rPr>
              <a:t>Presented by</a:t>
            </a:r>
            <a:r>
              <a:rPr kumimoji="1" lang="zh-CN" altLang="en-US" dirty="0">
                <a:solidFill>
                  <a:srgbClr val="505050"/>
                </a:solidFill>
                <a:latin typeface="Arial" panose="020B0604020202020204" pitchFamily="34" charset="0"/>
              </a:rPr>
              <a:t>：</a:t>
            </a:r>
            <a:r>
              <a:rPr kumimoji="1" lang="en-US" altLang="zh-CN" dirty="0">
                <a:solidFill>
                  <a:srgbClr val="505050"/>
                </a:solidFill>
                <a:latin typeface="Arial" panose="020B0604020202020204" pitchFamily="34" charset="0"/>
              </a:rPr>
              <a:t>Siyue Hao</a:t>
            </a:r>
            <a:br>
              <a:rPr kumimoji="1" lang="en-US" altLang="zh-CN" dirty="0">
                <a:solidFill>
                  <a:srgbClr val="505050"/>
                </a:solidFill>
                <a:latin typeface="Arial" panose="020B0604020202020204" pitchFamily="34" charset="0"/>
              </a:rPr>
            </a:br>
            <a:r>
              <a:rPr kumimoji="1" lang="en-US" altLang="zh-CN" sz="2000" dirty="0">
                <a:solidFill>
                  <a:srgbClr val="505050"/>
                </a:solidFill>
                <a:latin typeface="Arial" panose="020B0604020202020204" pitchFamily="34" charset="0"/>
              </a:rPr>
              <a:t>University of Science and Technology of China, USTC</a:t>
            </a:r>
          </a:p>
          <a:p>
            <a:r>
              <a:rPr kumimoji="1" lang="en" altLang="zh-CN" dirty="0">
                <a:solidFill>
                  <a:srgbClr val="505050"/>
                </a:solidFill>
                <a:latin typeface="Arial" panose="020B0604020202020204" pitchFamily="34" charset="0"/>
              </a:rPr>
              <a:t>June </a:t>
            </a:r>
            <a:r>
              <a:rPr kumimoji="1" lang="en-US" altLang="zh-CN" dirty="0">
                <a:solidFill>
                  <a:srgbClr val="505050"/>
                </a:solidFill>
                <a:latin typeface="Arial" panose="020B0604020202020204" pitchFamily="34" charset="0"/>
              </a:rPr>
              <a:t>5</a:t>
            </a:r>
            <a:r>
              <a:rPr kumimoji="1" lang="en" altLang="zh-CN" dirty="0">
                <a:solidFill>
                  <a:srgbClr val="505050"/>
                </a:solidFill>
                <a:latin typeface="Arial" panose="020B0604020202020204" pitchFamily="34" charset="0"/>
              </a:rPr>
              <a:t>, 2026 </a:t>
            </a:r>
            <a:r>
              <a:rPr kumimoji="1" lang="en-US" altLang="zh-CN" sz="2000" dirty="0">
                <a:solidFill>
                  <a:srgbClr val="505050"/>
                </a:solidFill>
                <a:latin typeface="Arial" panose="020B0604020202020204" pitchFamily="34" charset="0"/>
              </a:rPr>
              <a:t>
</a:t>
            </a:r>
          </a:p>
        </p:txBody>
      </p:sp>
      <p:sp>
        <p:nvSpPr>
          <p:cNvPr id="5" name="标题 1">
            <a:extLst>
              <a:ext uri="{FF2B5EF4-FFF2-40B4-BE49-F238E27FC236}">
                <a16:creationId xmlns:a16="http://schemas.microsoft.com/office/drawing/2014/main" id="{280AFDAD-151B-EEC6-E427-3A0BA2A2C101}"/>
              </a:ext>
            </a:extLst>
          </p:cNvPr>
          <p:cNvSpPr txBox="1">
            <a:spLocks/>
          </p:cNvSpPr>
          <p:nvPr/>
        </p:nvSpPr>
        <p:spPr>
          <a:xfrm>
            <a:off x="914746" y="3437905"/>
            <a:ext cx="9940290" cy="59012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kumimoji="1" lang="en" altLang="zh-CN" sz="1800" i="1" dirty="0">
                <a:solidFill>
                  <a:srgbClr val="003C5A"/>
                </a:solidFill>
                <a:latin typeface="Arial" panose="020B0604020202020204" pitchFamily="34" charset="0"/>
              </a:rPr>
              <a:t>StarTeam</a:t>
            </a:r>
            <a:r>
              <a:rPr lang="en" altLang="zh-CN" sz="2000" i="1" dirty="0"/>
              <a:t> </a:t>
            </a:r>
            <a:r>
              <a:rPr kumimoji="1" lang="en" altLang="zh-CN" sz="1800" i="1" dirty="0">
                <a:solidFill>
                  <a:srgbClr val="003C5A"/>
                </a:solidFill>
                <a:latin typeface="Arial" panose="020B0604020202020204" pitchFamily="34" charset="0"/>
              </a:rPr>
              <a:t>Interview</a:t>
            </a:r>
            <a:endParaRPr kumimoji="1" lang="zh-CN" altLang="en-US" sz="1800" i="1" dirty="0">
              <a:solidFill>
                <a:srgbClr val="003C5A"/>
              </a:solidFill>
              <a:latin typeface="Arial" panose="020B0604020202020204" pitchFamily="34" charset="0"/>
            </a:endParaRPr>
          </a:p>
        </p:txBody>
      </p:sp>
    </p:spTree>
    <p:extLst>
      <p:ext uri="{BB962C8B-B14F-4D97-AF65-F5344CB8AC3E}">
        <p14:creationId xmlns:p14="http://schemas.microsoft.com/office/powerpoint/2010/main" val="34863414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74740-D5FE-CF78-1135-70D4918299C0}"/>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75830A61-AF4E-E851-F4B2-34519EFE26A7}"/>
              </a:ext>
            </a:extLst>
          </p:cNvPr>
          <p:cNvSpPr>
            <a:spLocks noGrp="1"/>
          </p:cNvSpPr>
          <p:nvPr>
            <p:ph idx="1"/>
          </p:nvPr>
        </p:nvSpPr>
        <p:spPr>
          <a:xfrm>
            <a:off x="838198" y="1612011"/>
            <a:ext cx="10515600" cy="3365257"/>
          </a:xfrm>
        </p:spPr>
        <p:txBody>
          <a:bodyPr>
            <a:normAutofit/>
          </a:bodyPr>
          <a:lstStyle/>
          <a:p>
            <a:r>
              <a:rPr lang="en" altLang="zh-CN" sz="1800" b="1" dirty="0">
                <a:solidFill>
                  <a:srgbClr val="000000"/>
                </a:solidFill>
                <a:latin typeface="Arial"/>
                <a:cs typeface="Arial"/>
              </a:rPr>
              <a:t>Part</a:t>
            </a:r>
            <a:r>
              <a:rPr lang="zh-CN" altLang="en-US" sz="1800" b="1" dirty="0">
                <a:solidFill>
                  <a:srgbClr val="000000"/>
                </a:solidFill>
                <a:latin typeface="Arial"/>
                <a:cs typeface="Arial"/>
              </a:rPr>
              <a:t> </a:t>
            </a:r>
            <a:r>
              <a:rPr lang="en-US" altLang="zh-CN" sz="1800" b="1" dirty="0">
                <a:solidFill>
                  <a:srgbClr val="000000"/>
                </a:solidFill>
                <a:latin typeface="Arial"/>
                <a:cs typeface="Arial"/>
              </a:rPr>
              <a:t>I</a:t>
            </a:r>
            <a:r>
              <a:rPr lang="zh-CN" altLang="en-US" sz="1800" b="1" dirty="0">
                <a:solidFill>
                  <a:srgbClr val="000000"/>
                </a:solidFill>
                <a:latin typeface="Arial"/>
                <a:cs typeface="Arial"/>
              </a:rPr>
              <a:t> </a:t>
            </a:r>
            <a:r>
              <a:rPr lang="en" altLang="zh-CN" sz="1800" dirty="0">
                <a:solidFill>
                  <a:srgbClr val="000000"/>
                </a:solidFill>
                <a:latin typeface="Arial"/>
                <a:cs typeface="Arial"/>
              </a:rPr>
              <a:t>: paper</a:t>
            </a:r>
            <a:r>
              <a:rPr lang="zh-CN" altLang="en-US" sz="1800" dirty="0">
                <a:solidFill>
                  <a:srgbClr val="000000"/>
                </a:solidFill>
                <a:latin typeface="Arial"/>
                <a:cs typeface="Arial"/>
              </a:rPr>
              <a:t> </a:t>
            </a:r>
            <a:r>
              <a:rPr lang="en-US" altLang="zh-CN" sz="1800" dirty="0">
                <a:solidFill>
                  <a:srgbClr val="000000"/>
                </a:solidFill>
                <a:latin typeface="Arial"/>
                <a:cs typeface="Arial"/>
              </a:rPr>
              <a:t>report</a:t>
            </a:r>
          </a:p>
          <a:p>
            <a:endParaRPr lang="en" altLang="zh-CN" sz="1800" b="1" dirty="0">
              <a:solidFill>
                <a:srgbClr val="000000"/>
              </a:solidFill>
              <a:latin typeface="Arial"/>
              <a:cs typeface="Arial"/>
            </a:endParaRPr>
          </a:p>
          <a:p>
            <a:r>
              <a:rPr lang="en" altLang="zh-CN" sz="1800" b="1" dirty="0">
                <a:solidFill>
                  <a:srgbClr val="000000"/>
                </a:solidFill>
                <a:latin typeface="Arial"/>
                <a:cs typeface="Arial"/>
              </a:rPr>
              <a:t>Part</a:t>
            </a:r>
            <a:r>
              <a:rPr lang="zh-CN" altLang="en-US" sz="1800" b="1" dirty="0">
                <a:solidFill>
                  <a:srgbClr val="000000"/>
                </a:solidFill>
                <a:latin typeface="Arial"/>
                <a:cs typeface="Arial"/>
              </a:rPr>
              <a:t> </a:t>
            </a:r>
            <a:r>
              <a:rPr lang="en-US" altLang="zh-CN" sz="1800" b="1" dirty="0">
                <a:solidFill>
                  <a:srgbClr val="000000"/>
                </a:solidFill>
                <a:latin typeface="Arial"/>
                <a:cs typeface="Arial"/>
              </a:rPr>
              <a:t>II</a:t>
            </a:r>
            <a:r>
              <a:rPr lang="zh-CN" altLang="en-US" sz="1800" b="1" dirty="0">
                <a:solidFill>
                  <a:srgbClr val="000000"/>
                </a:solidFill>
                <a:latin typeface="Arial"/>
                <a:cs typeface="Arial"/>
              </a:rPr>
              <a:t> </a:t>
            </a:r>
            <a:r>
              <a:rPr lang="en-US" altLang="zh-CN" sz="1800" b="1" dirty="0">
                <a:solidFill>
                  <a:srgbClr val="000000"/>
                </a:solidFill>
                <a:latin typeface="Arial"/>
                <a:cs typeface="Arial"/>
              </a:rPr>
              <a:t>:</a:t>
            </a:r>
            <a:r>
              <a:rPr lang="zh-CN" altLang="en-US" sz="1800" b="1" dirty="0">
                <a:solidFill>
                  <a:srgbClr val="000000"/>
                </a:solidFill>
                <a:latin typeface="Arial"/>
                <a:cs typeface="Arial"/>
              </a:rPr>
              <a:t> </a:t>
            </a:r>
            <a:r>
              <a:rPr lang="en-US" altLang="zh-CN" sz="1800" dirty="0">
                <a:solidFill>
                  <a:srgbClr val="000000"/>
                </a:solidFill>
                <a:latin typeface="Arial"/>
                <a:cs typeface="Arial"/>
              </a:rPr>
              <a:t>idea</a:t>
            </a:r>
            <a:r>
              <a:rPr lang="zh-CN" altLang="en-US" sz="1800" dirty="0">
                <a:solidFill>
                  <a:srgbClr val="000000"/>
                </a:solidFill>
                <a:latin typeface="Arial"/>
                <a:cs typeface="Arial"/>
              </a:rPr>
              <a:t> </a:t>
            </a:r>
            <a:r>
              <a:rPr lang="en-US" altLang="zh-CN" sz="1800" dirty="0">
                <a:solidFill>
                  <a:srgbClr val="000000"/>
                </a:solidFill>
                <a:latin typeface="Arial"/>
                <a:cs typeface="Arial"/>
              </a:rPr>
              <a:t>sharing</a:t>
            </a:r>
            <a:endParaRPr lang="en" altLang="zh-CN" sz="1800" dirty="0">
              <a:solidFill>
                <a:srgbClr val="000000"/>
              </a:solidFill>
              <a:latin typeface="Arial"/>
              <a:cs typeface="Arial"/>
            </a:endParaRPr>
          </a:p>
        </p:txBody>
      </p:sp>
      <p:grpSp>
        <p:nvGrpSpPr>
          <p:cNvPr id="11" name="Google Shape;136;p23">
            <a:extLst>
              <a:ext uri="{FF2B5EF4-FFF2-40B4-BE49-F238E27FC236}">
                <a16:creationId xmlns:a16="http://schemas.microsoft.com/office/drawing/2014/main" id="{ECCD8298-5555-0EC2-1AF1-FC3A3816B9A5}"/>
              </a:ext>
            </a:extLst>
          </p:cNvPr>
          <p:cNvGrpSpPr/>
          <p:nvPr/>
        </p:nvGrpSpPr>
        <p:grpSpPr>
          <a:xfrm>
            <a:off x="838198" y="905142"/>
            <a:ext cx="1860442" cy="475601"/>
            <a:chOff x="188705" y="912146"/>
            <a:chExt cx="2559301" cy="602940"/>
          </a:xfrm>
          <a:solidFill>
            <a:schemeClr val="bg1"/>
          </a:solidFill>
        </p:grpSpPr>
        <p:sp>
          <p:nvSpPr>
            <p:cNvPr id="12" name="Google Shape;137;p23">
              <a:extLst>
                <a:ext uri="{FF2B5EF4-FFF2-40B4-BE49-F238E27FC236}">
                  <a16:creationId xmlns:a16="http://schemas.microsoft.com/office/drawing/2014/main" id="{6AEB02A6-5908-279E-76BC-AEB8278DE244}"/>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sz="2000" b="1" dirty="0">
                  <a:solidFill>
                    <a:schemeClr val="dk1"/>
                  </a:solidFill>
                  <a:latin typeface="Comic Sans MS"/>
                  <a:ea typeface="Comic Sans MS"/>
                  <a:cs typeface="Comic Sans MS"/>
                  <a:sym typeface="Comic Sans MS"/>
                </a:rPr>
                <a:t>Outline</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2FA04879-84C0-DAAD-A469-45CA26F50FC0}"/>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4" name="灯片编号占位符 13">
            <a:extLst>
              <a:ext uri="{FF2B5EF4-FFF2-40B4-BE49-F238E27FC236}">
                <a16:creationId xmlns:a16="http://schemas.microsoft.com/office/drawing/2014/main" id="{63AC3E16-09F8-146E-FBD7-2A9B5063CFA0}"/>
              </a:ext>
            </a:extLst>
          </p:cNvPr>
          <p:cNvSpPr>
            <a:spLocks noGrp="1"/>
          </p:cNvSpPr>
          <p:nvPr>
            <p:ph type="sldNum" sz="quarter" idx="12"/>
          </p:nvPr>
        </p:nvSpPr>
        <p:spPr/>
        <p:txBody>
          <a:bodyPr/>
          <a:lstStyle/>
          <a:p>
            <a:fld id="{F4F8D3FC-E4A1-684A-A978-3E74850AAFB0}" type="slidenum">
              <a:rPr kumimoji="1" lang="zh-CN" altLang="en-US" smtClean="0"/>
              <a:t>1</a:t>
            </a:fld>
            <a:endParaRPr kumimoji="1" lang="zh-CN" altLang="en-US"/>
          </a:p>
        </p:txBody>
      </p:sp>
    </p:spTree>
    <p:extLst>
      <p:ext uri="{BB962C8B-B14F-4D97-AF65-F5344CB8AC3E}">
        <p14:creationId xmlns:p14="http://schemas.microsoft.com/office/powerpoint/2010/main" val="4344174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90A59-FABF-CBB9-C0A1-272AB14EA1DF}"/>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49DD8218-69FC-57DC-67C0-03DBED8F1BFF}"/>
              </a:ext>
            </a:extLst>
          </p:cNvPr>
          <p:cNvSpPr>
            <a:spLocks noGrp="1"/>
          </p:cNvSpPr>
          <p:nvPr>
            <p:ph idx="1"/>
          </p:nvPr>
        </p:nvSpPr>
        <p:spPr>
          <a:xfrm>
            <a:off x="838198" y="1612011"/>
            <a:ext cx="10515600" cy="3365257"/>
          </a:xfrm>
        </p:spPr>
        <p:txBody>
          <a:bodyPr>
            <a:normAutofit/>
          </a:bodyPr>
          <a:lstStyle/>
          <a:p>
            <a:r>
              <a:rPr lang="en" altLang="zh-CN" sz="1800" b="1" dirty="0">
                <a:solidFill>
                  <a:srgbClr val="000000"/>
                </a:solidFill>
                <a:latin typeface="Arial"/>
                <a:cs typeface="Arial"/>
              </a:rPr>
              <a:t>Part</a:t>
            </a:r>
            <a:r>
              <a:rPr lang="zh-CN" altLang="en-US" sz="1800" b="1" dirty="0">
                <a:solidFill>
                  <a:srgbClr val="000000"/>
                </a:solidFill>
                <a:latin typeface="Arial"/>
                <a:cs typeface="Arial"/>
              </a:rPr>
              <a:t> </a:t>
            </a:r>
            <a:r>
              <a:rPr lang="en-US" altLang="zh-CN" sz="1800" b="1" dirty="0">
                <a:solidFill>
                  <a:srgbClr val="000000"/>
                </a:solidFill>
                <a:latin typeface="Arial"/>
                <a:cs typeface="Arial"/>
              </a:rPr>
              <a:t>I</a:t>
            </a:r>
            <a:r>
              <a:rPr lang="zh-CN" altLang="en-US" sz="1800" b="1" dirty="0">
                <a:solidFill>
                  <a:srgbClr val="000000"/>
                </a:solidFill>
                <a:latin typeface="Arial"/>
                <a:cs typeface="Arial"/>
              </a:rPr>
              <a:t> </a:t>
            </a:r>
            <a:r>
              <a:rPr lang="en" altLang="zh-CN" sz="1800" dirty="0">
                <a:solidFill>
                  <a:srgbClr val="000000"/>
                </a:solidFill>
                <a:latin typeface="Arial"/>
                <a:cs typeface="Arial"/>
              </a:rPr>
              <a:t>: </a:t>
            </a:r>
            <a:endParaRPr lang="en-US" altLang="zh-CN" sz="1800" dirty="0">
              <a:solidFill>
                <a:srgbClr val="000000"/>
              </a:solidFill>
              <a:latin typeface="Arial"/>
              <a:cs typeface="Arial"/>
            </a:endParaRPr>
          </a:p>
          <a:p>
            <a:endParaRPr lang="en-US" altLang="zh-CN" sz="1800" dirty="0">
              <a:solidFill>
                <a:srgbClr val="000000"/>
              </a:solidFill>
              <a:latin typeface="Arial"/>
              <a:cs typeface="Arial"/>
            </a:endParaRPr>
          </a:p>
          <a:p>
            <a:endParaRPr lang="en" altLang="zh-CN" sz="1800" dirty="0">
              <a:solidFill>
                <a:srgbClr val="000000"/>
              </a:solidFill>
              <a:latin typeface="Arial"/>
              <a:cs typeface="Arial"/>
            </a:endParaRPr>
          </a:p>
          <a:p>
            <a:endParaRPr lang="en" altLang="zh-CN" sz="1800" b="1" dirty="0">
              <a:solidFill>
                <a:srgbClr val="000000"/>
              </a:solidFill>
              <a:latin typeface="Arial"/>
              <a:cs typeface="Arial"/>
            </a:endParaRPr>
          </a:p>
          <a:p>
            <a:r>
              <a:rPr lang="en" altLang="zh-CN" sz="1800" b="1" dirty="0">
                <a:solidFill>
                  <a:srgbClr val="000000"/>
                </a:solidFill>
                <a:latin typeface="Arial"/>
                <a:cs typeface="Arial"/>
              </a:rPr>
              <a:t>Part</a:t>
            </a:r>
            <a:r>
              <a:rPr lang="zh-CN" altLang="en-US" sz="1800" b="1" dirty="0">
                <a:solidFill>
                  <a:srgbClr val="000000"/>
                </a:solidFill>
                <a:latin typeface="Arial"/>
                <a:cs typeface="Arial"/>
              </a:rPr>
              <a:t> </a:t>
            </a:r>
            <a:r>
              <a:rPr lang="en-US" altLang="zh-CN" sz="1800" b="1" dirty="0">
                <a:solidFill>
                  <a:srgbClr val="000000"/>
                </a:solidFill>
                <a:latin typeface="Arial"/>
                <a:cs typeface="Arial"/>
              </a:rPr>
              <a:t>II</a:t>
            </a:r>
            <a:r>
              <a:rPr lang="zh-CN" altLang="en-US" sz="1800" b="1" dirty="0">
                <a:solidFill>
                  <a:srgbClr val="000000"/>
                </a:solidFill>
                <a:latin typeface="Arial"/>
                <a:cs typeface="Arial"/>
              </a:rPr>
              <a:t> </a:t>
            </a:r>
            <a:r>
              <a:rPr lang="en-US" altLang="zh-CN" sz="1800" b="1" dirty="0">
                <a:solidFill>
                  <a:srgbClr val="000000"/>
                </a:solidFill>
                <a:latin typeface="Arial"/>
                <a:cs typeface="Arial"/>
              </a:rPr>
              <a:t>:</a:t>
            </a:r>
          </a:p>
          <a:p>
            <a:endParaRPr lang="en-US" altLang="zh-CN" sz="1800" b="1" dirty="0">
              <a:solidFill>
                <a:srgbClr val="000000"/>
              </a:solidFill>
              <a:latin typeface="Arial"/>
              <a:cs typeface="Arial"/>
            </a:endParaRPr>
          </a:p>
          <a:p>
            <a:endParaRPr lang="en-US" altLang="zh-CN" sz="1800" b="1" dirty="0">
              <a:solidFill>
                <a:srgbClr val="000000"/>
              </a:solidFill>
              <a:latin typeface="Arial"/>
              <a:cs typeface="Arial"/>
            </a:endParaRPr>
          </a:p>
          <a:p>
            <a:endParaRPr lang="en" altLang="zh-CN" sz="1800" b="1" dirty="0">
              <a:solidFill>
                <a:srgbClr val="000000"/>
              </a:solidFill>
              <a:latin typeface="Arial"/>
              <a:cs typeface="Arial"/>
            </a:endParaRPr>
          </a:p>
          <a:p>
            <a:r>
              <a:rPr lang="en" altLang="zh-CN" sz="1800" b="1" dirty="0">
                <a:solidFill>
                  <a:srgbClr val="000000"/>
                </a:solidFill>
                <a:latin typeface="Arial"/>
                <a:cs typeface="Arial"/>
              </a:rPr>
              <a:t>Part</a:t>
            </a:r>
            <a:r>
              <a:rPr lang="zh-CN" altLang="en-US" sz="1800" b="1" dirty="0">
                <a:solidFill>
                  <a:srgbClr val="000000"/>
                </a:solidFill>
                <a:latin typeface="Arial"/>
                <a:cs typeface="Arial"/>
              </a:rPr>
              <a:t> </a:t>
            </a:r>
            <a:r>
              <a:rPr lang="en-US" altLang="zh-CN" sz="1800" b="1" dirty="0">
                <a:solidFill>
                  <a:srgbClr val="000000"/>
                </a:solidFill>
                <a:latin typeface="Arial"/>
                <a:cs typeface="Arial"/>
              </a:rPr>
              <a:t>III : </a:t>
            </a:r>
            <a:endParaRPr lang="en" altLang="zh-CN" sz="1800" dirty="0">
              <a:solidFill>
                <a:srgbClr val="000000"/>
              </a:solidFill>
              <a:latin typeface="Arial"/>
              <a:cs typeface="Arial"/>
            </a:endParaRPr>
          </a:p>
        </p:txBody>
      </p:sp>
      <p:grpSp>
        <p:nvGrpSpPr>
          <p:cNvPr id="11" name="Google Shape;136;p23">
            <a:extLst>
              <a:ext uri="{FF2B5EF4-FFF2-40B4-BE49-F238E27FC236}">
                <a16:creationId xmlns:a16="http://schemas.microsoft.com/office/drawing/2014/main" id="{91AE14B2-48F6-C65E-2117-CDC99B6223BC}"/>
              </a:ext>
            </a:extLst>
          </p:cNvPr>
          <p:cNvGrpSpPr/>
          <p:nvPr/>
        </p:nvGrpSpPr>
        <p:grpSpPr>
          <a:xfrm>
            <a:off x="838198" y="905142"/>
            <a:ext cx="1860442" cy="475601"/>
            <a:chOff x="188705" y="912146"/>
            <a:chExt cx="2559301" cy="602940"/>
          </a:xfrm>
          <a:solidFill>
            <a:schemeClr val="bg1"/>
          </a:solidFill>
        </p:grpSpPr>
        <p:sp>
          <p:nvSpPr>
            <p:cNvPr id="12" name="Google Shape;137;p23">
              <a:extLst>
                <a:ext uri="{FF2B5EF4-FFF2-40B4-BE49-F238E27FC236}">
                  <a16:creationId xmlns:a16="http://schemas.microsoft.com/office/drawing/2014/main" id="{7995AA3C-9CED-67AB-CB67-6FA332BBCDA7}"/>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altLang="zh-CN" sz="2000" b="1" dirty="0">
                  <a:solidFill>
                    <a:schemeClr val="dk1"/>
                  </a:solidFill>
                  <a:latin typeface="Comic Sans MS"/>
                  <a:ea typeface="Comic Sans MS"/>
                  <a:cs typeface="Comic Sans MS"/>
                  <a:sym typeface="Comic Sans MS"/>
                </a:rPr>
                <a:t>Paper</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19F57053-C90B-E7A1-281E-277297425AA9}"/>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4" name="灯片编号占位符 13">
            <a:extLst>
              <a:ext uri="{FF2B5EF4-FFF2-40B4-BE49-F238E27FC236}">
                <a16:creationId xmlns:a16="http://schemas.microsoft.com/office/drawing/2014/main" id="{6BD59644-4818-1DB8-6DAB-42B5A4C7E14A}"/>
              </a:ext>
            </a:extLst>
          </p:cNvPr>
          <p:cNvSpPr>
            <a:spLocks noGrp="1"/>
          </p:cNvSpPr>
          <p:nvPr>
            <p:ph type="sldNum" sz="quarter" idx="12"/>
          </p:nvPr>
        </p:nvSpPr>
        <p:spPr/>
        <p:txBody>
          <a:bodyPr/>
          <a:lstStyle/>
          <a:p>
            <a:fld id="{F4F8D3FC-E4A1-684A-A978-3E74850AAFB0}" type="slidenum">
              <a:rPr kumimoji="1" lang="zh-CN" altLang="en-US" smtClean="0"/>
              <a:t>2</a:t>
            </a:fld>
            <a:endParaRPr kumimoji="1" lang="zh-CN" altLang="en-US"/>
          </a:p>
        </p:txBody>
      </p:sp>
      <p:pic>
        <p:nvPicPr>
          <p:cNvPr id="7" name="图片 6">
            <a:extLst>
              <a:ext uri="{FF2B5EF4-FFF2-40B4-BE49-F238E27FC236}">
                <a16:creationId xmlns:a16="http://schemas.microsoft.com/office/drawing/2014/main" id="{169FD714-7539-6E18-8150-B662EE71155D}"/>
              </a:ext>
            </a:extLst>
          </p:cNvPr>
          <p:cNvPicPr>
            <a:picLocks noChangeAspect="1"/>
          </p:cNvPicPr>
          <p:nvPr/>
        </p:nvPicPr>
        <p:blipFill>
          <a:blip r:embed="rId3"/>
          <a:srcRect l="1809" r="2246" b="35457"/>
          <a:stretch>
            <a:fillRect/>
          </a:stretch>
        </p:blipFill>
        <p:spPr>
          <a:xfrm>
            <a:off x="2615394" y="1380743"/>
            <a:ext cx="6961208" cy="1004458"/>
          </a:xfrm>
          <a:prstGeom prst="rect">
            <a:avLst/>
          </a:prstGeom>
        </p:spPr>
      </p:pic>
      <p:pic>
        <p:nvPicPr>
          <p:cNvPr id="8" name="图片 7">
            <a:extLst>
              <a:ext uri="{FF2B5EF4-FFF2-40B4-BE49-F238E27FC236}">
                <a16:creationId xmlns:a16="http://schemas.microsoft.com/office/drawing/2014/main" id="{4F865E8C-8D21-59AF-0A91-3B70D69ED1C7}"/>
              </a:ext>
            </a:extLst>
          </p:cNvPr>
          <p:cNvPicPr>
            <a:picLocks noChangeAspect="1"/>
          </p:cNvPicPr>
          <p:nvPr/>
        </p:nvPicPr>
        <p:blipFill>
          <a:blip r:embed="rId4"/>
          <a:srcRect l="2843" t="11050" r="6409" b="47281"/>
          <a:stretch>
            <a:fillRect/>
          </a:stretch>
        </p:blipFill>
        <p:spPr>
          <a:xfrm>
            <a:off x="2523281" y="2806521"/>
            <a:ext cx="7053321" cy="721304"/>
          </a:xfrm>
          <a:prstGeom prst="rect">
            <a:avLst/>
          </a:prstGeom>
        </p:spPr>
      </p:pic>
      <p:pic>
        <p:nvPicPr>
          <p:cNvPr id="9" name="图片 8">
            <a:extLst>
              <a:ext uri="{FF2B5EF4-FFF2-40B4-BE49-F238E27FC236}">
                <a16:creationId xmlns:a16="http://schemas.microsoft.com/office/drawing/2014/main" id="{6A0E1D56-D1A6-EB12-8141-F3D221F6F09E}"/>
              </a:ext>
            </a:extLst>
          </p:cNvPr>
          <p:cNvPicPr>
            <a:picLocks noChangeAspect="1"/>
          </p:cNvPicPr>
          <p:nvPr/>
        </p:nvPicPr>
        <p:blipFill>
          <a:blip r:embed="rId4"/>
          <a:srcRect t="69069"/>
          <a:stretch>
            <a:fillRect/>
          </a:stretch>
        </p:blipFill>
        <p:spPr>
          <a:xfrm>
            <a:off x="2209800" y="3429000"/>
            <a:ext cx="7772400" cy="535411"/>
          </a:xfrm>
          <a:prstGeom prst="rect">
            <a:avLst/>
          </a:prstGeom>
        </p:spPr>
      </p:pic>
      <p:pic>
        <p:nvPicPr>
          <p:cNvPr id="10" name="图片 9">
            <a:extLst>
              <a:ext uri="{FF2B5EF4-FFF2-40B4-BE49-F238E27FC236}">
                <a16:creationId xmlns:a16="http://schemas.microsoft.com/office/drawing/2014/main" id="{F66D2E39-C9DE-BDD7-8193-C31E4CABD4E3}"/>
              </a:ext>
            </a:extLst>
          </p:cNvPr>
          <p:cNvPicPr>
            <a:picLocks noChangeAspect="1"/>
          </p:cNvPicPr>
          <p:nvPr/>
        </p:nvPicPr>
        <p:blipFill>
          <a:blip r:embed="rId5"/>
          <a:stretch>
            <a:fillRect/>
          </a:stretch>
        </p:blipFill>
        <p:spPr>
          <a:xfrm>
            <a:off x="2163741" y="4354026"/>
            <a:ext cx="7772400" cy="1169376"/>
          </a:xfrm>
          <a:prstGeom prst="rect">
            <a:avLst/>
          </a:prstGeom>
        </p:spPr>
      </p:pic>
      <p:cxnSp>
        <p:nvCxnSpPr>
          <p:cNvPr id="16" name="直线连接符 15">
            <a:extLst>
              <a:ext uri="{FF2B5EF4-FFF2-40B4-BE49-F238E27FC236}">
                <a16:creationId xmlns:a16="http://schemas.microsoft.com/office/drawing/2014/main" id="{8968A539-D517-3F8D-3399-C6995BC636E4}"/>
              </a:ext>
            </a:extLst>
          </p:cNvPr>
          <p:cNvCxnSpPr>
            <a:cxnSpLocks/>
          </p:cNvCxnSpPr>
          <p:nvPr/>
        </p:nvCxnSpPr>
        <p:spPr>
          <a:xfrm>
            <a:off x="1041722" y="2569580"/>
            <a:ext cx="9456516"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8" name="直线连接符 17">
            <a:extLst>
              <a:ext uri="{FF2B5EF4-FFF2-40B4-BE49-F238E27FC236}">
                <a16:creationId xmlns:a16="http://schemas.microsoft.com/office/drawing/2014/main" id="{52E9DB6B-005E-69F2-4FF9-726A81165BEF}"/>
              </a:ext>
            </a:extLst>
          </p:cNvPr>
          <p:cNvCxnSpPr>
            <a:cxnSpLocks/>
          </p:cNvCxnSpPr>
          <p:nvPr/>
        </p:nvCxnSpPr>
        <p:spPr>
          <a:xfrm>
            <a:off x="1041722" y="4180390"/>
            <a:ext cx="9456516" cy="0"/>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9" name="内容占位符 2">
            <a:extLst>
              <a:ext uri="{FF2B5EF4-FFF2-40B4-BE49-F238E27FC236}">
                <a16:creationId xmlns:a16="http://schemas.microsoft.com/office/drawing/2014/main" id="{E626B22B-0D8D-3466-7DBA-F1C946EE057B}"/>
              </a:ext>
            </a:extLst>
          </p:cNvPr>
          <p:cNvSpPr txBox="1">
            <a:spLocks/>
          </p:cNvSpPr>
          <p:nvPr/>
        </p:nvSpPr>
        <p:spPr>
          <a:xfrm>
            <a:off x="838198" y="5692402"/>
            <a:ext cx="11353802" cy="11655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b="1" dirty="0">
                <a:solidFill>
                  <a:srgbClr val="000000"/>
                </a:solidFill>
                <a:latin typeface="Arial"/>
                <a:cs typeface="Arial"/>
              </a:rPr>
              <a:t>Background</a:t>
            </a:r>
            <a:r>
              <a:rPr lang="zh-CN" altLang="en-US" sz="1800" b="1" dirty="0">
                <a:solidFill>
                  <a:srgbClr val="000000"/>
                </a:solidFill>
                <a:latin typeface="Arial"/>
                <a:cs typeface="Arial"/>
              </a:rPr>
              <a:t> ： </a:t>
            </a:r>
            <a:endParaRPr lang="en-US" altLang="zh-CN" sz="1800" b="1" dirty="0">
              <a:solidFill>
                <a:srgbClr val="000000"/>
              </a:solidFill>
              <a:latin typeface="Arial"/>
              <a:cs typeface="Arial"/>
            </a:endParaRPr>
          </a:p>
          <a:p>
            <a:pPr lvl="1"/>
            <a:r>
              <a:rPr lang="en-US" altLang="zh-CN" sz="1800" dirty="0">
                <a:solidFill>
                  <a:srgbClr val="000000"/>
                </a:solidFill>
                <a:latin typeface="Arial"/>
                <a:cs typeface="Arial"/>
              </a:rPr>
              <a:t>Model-</a:t>
            </a:r>
            <a:r>
              <a:rPr lang="en" altLang="zh-CN" sz="1800" dirty="0">
                <a:solidFill>
                  <a:srgbClr val="000000"/>
                </a:solidFill>
                <a:latin typeface="Arial"/>
                <a:cs typeface="Arial"/>
              </a:rPr>
              <a:t>Centric</a:t>
            </a:r>
            <a:r>
              <a:rPr lang="zh-CN" altLang="en-US" sz="1800" dirty="0">
                <a:solidFill>
                  <a:srgbClr val="000000"/>
                </a:solidFill>
                <a:latin typeface="Arial"/>
                <a:cs typeface="Arial"/>
              </a:rPr>
              <a:t> </a:t>
            </a:r>
            <a:r>
              <a:rPr lang="en" altLang="zh-CN" sz="1800" dirty="0">
                <a:solidFill>
                  <a:srgbClr val="000000"/>
                </a:solidFill>
                <a:latin typeface="Arial"/>
                <a:cs typeface="Arial"/>
              </a:rPr>
              <a:t>Recommender Systems</a:t>
            </a:r>
            <a:r>
              <a:rPr lang="zh-CN" altLang="en-US" sz="1800" dirty="0">
                <a:solidFill>
                  <a:srgbClr val="000000"/>
                </a:solidFill>
                <a:latin typeface="Arial"/>
                <a:cs typeface="Arial"/>
              </a:rPr>
              <a:t> </a:t>
            </a:r>
            <a:endParaRPr lang="en-US" altLang="zh-CN" sz="1800" dirty="0">
              <a:solidFill>
                <a:srgbClr val="000000"/>
              </a:solidFill>
              <a:latin typeface="Arial"/>
              <a:cs typeface="Arial"/>
            </a:endParaRPr>
          </a:p>
          <a:p>
            <a:pPr lvl="1"/>
            <a:r>
              <a:rPr lang="en" altLang="zh-CN" sz="1800" b="1" u="sng" dirty="0">
                <a:solidFill>
                  <a:srgbClr val="000000"/>
                </a:solidFill>
                <a:latin typeface="Arial"/>
                <a:cs typeface="Arial"/>
              </a:rPr>
              <a:t>Data-Centric</a:t>
            </a:r>
            <a:r>
              <a:rPr lang="en" altLang="zh-CN" sz="1800" u="sng" dirty="0"/>
              <a:t> </a:t>
            </a:r>
            <a:r>
              <a:rPr lang="en" altLang="zh-CN" sz="1800" b="1" u="sng" dirty="0">
                <a:solidFill>
                  <a:srgbClr val="000000"/>
                </a:solidFill>
                <a:latin typeface="Arial"/>
                <a:cs typeface="Arial"/>
              </a:rPr>
              <a:t>Recommender</a:t>
            </a:r>
            <a:r>
              <a:rPr lang="en" altLang="zh-CN" sz="1800" u="sng" dirty="0"/>
              <a:t> </a:t>
            </a:r>
            <a:r>
              <a:rPr lang="en" altLang="zh-CN" sz="1800" b="1" u="sng" dirty="0">
                <a:solidFill>
                  <a:srgbClr val="000000"/>
                </a:solidFill>
                <a:latin typeface="Arial"/>
                <a:cs typeface="Arial"/>
              </a:rPr>
              <a:t>Systems</a:t>
            </a:r>
            <a:r>
              <a:rPr lang="zh-CN" altLang="en-US" sz="1800" u="sng" dirty="0"/>
              <a:t>  </a:t>
            </a:r>
            <a:endParaRPr lang="en-US" altLang="zh-CN" sz="1800" b="1" u="sng" dirty="0">
              <a:solidFill>
                <a:srgbClr val="000000"/>
              </a:solidFill>
              <a:latin typeface="Arial"/>
              <a:cs typeface="Arial"/>
            </a:endParaRPr>
          </a:p>
          <a:p>
            <a:pPr marL="0" indent="0">
              <a:buFont typeface="Arial" panose="020B0604020202020204" pitchFamily="34" charset="0"/>
              <a:buNone/>
            </a:pPr>
            <a:endParaRPr lang="en-US" altLang="zh-CN" sz="1800" dirty="0">
              <a:solidFill>
                <a:srgbClr val="000000"/>
              </a:solidFill>
              <a:latin typeface="Arial"/>
              <a:cs typeface="Arial"/>
            </a:endParaRPr>
          </a:p>
          <a:p>
            <a:pPr marL="0" indent="0">
              <a:buFont typeface="Arial" panose="020B0604020202020204" pitchFamily="34" charset="0"/>
              <a:buNone/>
            </a:pPr>
            <a:endParaRPr lang="en-US" altLang="zh-CN" sz="1800" dirty="0">
              <a:solidFill>
                <a:srgbClr val="000000"/>
              </a:solidFill>
              <a:latin typeface="Arial"/>
              <a:cs typeface="Arial"/>
            </a:endParaRPr>
          </a:p>
        </p:txBody>
      </p:sp>
    </p:spTree>
    <p:extLst>
      <p:ext uri="{BB962C8B-B14F-4D97-AF65-F5344CB8AC3E}">
        <p14:creationId xmlns:p14="http://schemas.microsoft.com/office/powerpoint/2010/main" val="8552067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C846B-40D2-AEF9-0A5F-698D6874D6EF}"/>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9A7761E9-D2FD-A2EC-9465-F87C939DF8A4}"/>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A213F5FA-5F64-22E8-3F6C-297BDC0C7566}"/>
              </a:ext>
            </a:extLst>
          </p:cNvPr>
          <p:cNvSpPr>
            <a:spLocks noGrp="1"/>
          </p:cNvSpPr>
          <p:nvPr>
            <p:ph idx="1"/>
          </p:nvPr>
        </p:nvSpPr>
        <p:spPr>
          <a:xfrm>
            <a:off x="834958" y="1905001"/>
            <a:ext cx="8737600" cy="837722"/>
          </a:xfrm>
        </p:spPr>
        <p:txBody>
          <a:bodyPr>
            <a:normAutofit/>
          </a:bodyPr>
          <a:lstStyle/>
          <a:p>
            <a:r>
              <a:rPr lang="zh-CN" altLang="en-US" sz="1800" dirty="0"/>
              <a:t>序列推荐问题</a:t>
            </a:r>
            <a:endParaRPr lang="en-US" altLang="zh-CN" sz="1800" dirty="0"/>
          </a:p>
        </p:txBody>
      </p:sp>
      <p:grpSp>
        <p:nvGrpSpPr>
          <p:cNvPr id="11" name="Google Shape;136;p23">
            <a:extLst>
              <a:ext uri="{FF2B5EF4-FFF2-40B4-BE49-F238E27FC236}">
                <a16:creationId xmlns:a16="http://schemas.microsoft.com/office/drawing/2014/main" id="{34A3C736-E9D6-6564-860F-7BA1D66660FA}"/>
              </a:ext>
            </a:extLst>
          </p:cNvPr>
          <p:cNvGrpSpPr/>
          <p:nvPr/>
        </p:nvGrpSpPr>
        <p:grpSpPr>
          <a:xfrm>
            <a:off x="607470" y="1281152"/>
            <a:ext cx="2552419" cy="475601"/>
            <a:chOff x="188705" y="912146"/>
            <a:chExt cx="2559301" cy="602940"/>
          </a:xfrm>
          <a:solidFill>
            <a:schemeClr val="bg1"/>
          </a:solidFill>
        </p:grpSpPr>
        <p:sp>
          <p:nvSpPr>
            <p:cNvPr id="12" name="Google Shape;137;p23">
              <a:extLst>
                <a:ext uri="{FF2B5EF4-FFF2-40B4-BE49-F238E27FC236}">
                  <a16:creationId xmlns:a16="http://schemas.microsoft.com/office/drawing/2014/main" id="{877D39E6-3082-8783-CA42-E53901032BB2}"/>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2000" b="1" dirty="0">
                  <a:solidFill>
                    <a:schemeClr val="dk1"/>
                  </a:solidFill>
                  <a:latin typeface="Comic Sans MS"/>
                  <a:ea typeface="Comic Sans MS"/>
                  <a:cs typeface="Comic Sans MS"/>
                  <a:sym typeface="Comic Sans MS"/>
                </a:rPr>
                <a:t>Problem</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Definition</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D8577EE9-8B00-5702-B477-84BB880FE86F}"/>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D815092C-C8CE-FC68-416C-45AA090CDBDB}"/>
              </a:ext>
            </a:extLst>
          </p:cNvPr>
          <p:cNvSpPr/>
          <p:nvPr/>
        </p:nvSpPr>
        <p:spPr>
          <a:xfrm>
            <a:off x="1693785" y="278462"/>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B9269AC8-C534-923B-5F68-741B6EC352C9}"/>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981540F4-31FE-BE1B-86DA-5B06C4E849BA}"/>
              </a:ext>
            </a:extLst>
          </p:cNvPr>
          <p:cNvSpPr txBox="1"/>
          <p:nvPr/>
        </p:nvSpPr>
        <p:spPr>
          <a:xfrm>
            <a:off x="1870848" y="309596"/>
            <a:ext cx="4225152" cy="369332"/>
          </a:xfrm>
          <a:prstGeom prst="rect">
            <a:avLst/>
          </a:prstGeom>
          <a:noFill/>
        </p:spPr>
        <p:txBody>
          <a:bodyPr wrap="square">
            <a:spAutoFit/>
          </a:bodyPr>
          <a:lstStyle/>
          <a:p>
            <a:r>
              <a:rPr lang="en" altLang="zh-CN" dirty="0">
                <a:solidFill>
                  <a:srgbClr val="003C5A"/>
                </a:solidFill>
              </a:rPr>
              <a:t> </a:t>
            </a:r>
            <a:r>
              <a:rPr lang="en" altLang="zh-CN" dirty="0">
                <a:solidFill>
                  <a:srgbClr val="003C5A"/>
                </a:solidFill>
                <a:latin typeface="Arial" panose="020B0604020202020204" pitchFamily="34" charset="0"/>
                <a:cs typeface="Arial" panose="020B0604020202020204" pitchFamily="34" charset="0"/>
              </a:rPr>
              <a:t>I:</a:t>
            </a:r>
            <a:r>
              <a:rPr lang="en" altLang="zh-CN" dirty="0">
                <a:solidFill>
                  <a:srgbClr val="000000"/>
                </a:solidFill>
                <a:latin typeface="Arial"/>
                <a:cs typeface="Arial"/>
              </a:rPr>
              <a:t> </a:t>
            </a:r>
            <a:r>
              <a:rPr lang="en" altLang="zh-CN" dirty="0">
                <a:solidFill>
                  <a:srgbClr val="003C5A"/>
                </a:solidFill>
                <a:latin typeface="Arial" panose="020B0604020202020204" pitchFamily="34" charset="0"/>
                <a:cs typeface="Arial" panose="020B0604020202020204" pitchFamily="34" charset="0"/>
              </a:rPr>
              <a:t>DR4RS          </a:t>
            </a:r>
            <a:r>
              <a:rPr lang="en" altLang="zh-CN" dirty="0">
                <a:solidFill>
                  <a:schemeClr val="bg1"/>
                </a:solidFill>
                <a:latin typeface="Arial" panose="020B0604020202020204" pitchFamily="34" charset="0"/>
                <a:cs typeface="Arial" panose="020B0604020202020204" pitchFamily="34" charset="0"/>
              </a:rPr>
              <a:t>II: RSIR  </a:t>
            </a:r>
            <a:r>
              <a:rPr lang="zh-CN" altLang="en-US" dirty="0">
                <a:solidFill>
                  <a:schemeClr val="bg1"/>
                </a:solidFill>
                <a:latin typeface="Arial" panose="020B0604020202020204" pitchFamily="34" charset="0"/>
                <a:cs typeface="Arial" panose="020B0604020202020204" pitchFamily="34" charset="0"/>
              </a:rPr>
              <a:t>   </a:t>
            </a:r>
            <a:r>
              <a:rPr lang="en-US" altLang="zh-CN" dirty="0">
                <a:solidFill>
                  <a:schemeClr val="bg1"/>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8252FF2E-22BF-0CCC-FA2B-84F87F252FE0}"/>
              </a:ext>
            </a:extLst>
          </p:cNvPr>
          <p:cNvSpPr>
            <a:spLocks noGrp="1"/>
          </p:cNvSpPr>
          <p:nvPr>
            <p:ph type="sldNum" sz="quarter" idx="12"/>
          </p:nvPr>
        </p:nvSpPr>
        <p:spPr/>
        <p:txBody>
          <a:bodyPr/>
          <a:lstStyle/>
          <a:p>
            <a:fld id="{F4F8D3FC-E4A1-684A-A978-3E74850AAFB0}" type="slidenum">
              <a:rPr kumimoji="1" lang="zh-CN" altLang="en-US" smtClean="0"/>
              <a:t>3</a:t>
            </a:fld>
            <a:endParaRPr kumimoji="1" lang="zh-CN" altLang="en-US" dirty="0"/>
          </a:p>
        </p:txBody>
      </p:sp>
      <p:sp>
        <p:nvSpPr>
          <p:cNvPr id="15" name="内容占位符 2">
            <a:extLst>
              <a:ext uri="{FF2B5EF4-FFF2-40B4-BE49-F238E27FC236}">
                <a16:creationId xmlns:a16="http://schemas.microsoft.com/office/drawing/2014/main" id="{82BCF887-44E0-3C2D-EF2B-67D163B3CFB4}"/>
              </a:ext>
            </a:extLst>
          </p:cNvPr>
          <p:cNvSpPr txBox="1">
            <a:spLocks/>
          </p:cNvSpPr>
          <p:nvPr/>
        </p:nvSpPr>
        <p:spPr>
          <a:xfrm>
            <a:off x="834958" y="3712580"/>
            <a:ext cx="8737600" cy="19475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900" b="1" dirty="0"/>
              <a:t>原始： </a:t>
            </a:r>
            <a:r>
              <a:rPr lang="zh-CN" altLang="en-US" sz="1900" dirty="0"/>
              <a:t>以模型为中心忽略数据中潜在质量问题</a:t>
            </a:r>
            <a:endParaRPr lang="en-US" altLang="zh-CN" sz="1900" dirty="0"/>
          </a:p>
          <a:p>
            <a:r>
              <a:rPr lang="en-US" altLang="zh-CN" sz="1900" b="1" dirty="0"/>
              <a:t>Gap</a:t>
            </a:r>
            <a:r>
              <a:rPr lang="zh-CN" altLang="en-US" sz="1900" b="1" dirty="0"/>
              <a:t> ： </a:t>
            </a:r>
            <a:endParaRPr lang="en-US" altLang="zh-CN" sz="1900" b="1" dirty="0"/>
          </a:p>
          <a:p>
            <a:pPr lvl="1"/>
            <a:r>
              <a:rPr lang="en" altLang="zh-CN" sz="1900" dirty="0"/>
              <a:t>UPC-SDG</a:t>
            </a:r>
            <a:r>
              <a:rPr lang="zh-CN" altLang="en-US" sz="1900" dirty="0"/>
              <a:t> ： 保护隐私</a:t>
            </a:r>
            <a:endParaRPr lang="en-US" altLang="zh-CN" sz="1900" dirty="0"/>
          </a:p>
          <a:p>
            <a:pPr lvl="1"/>
            <a:r>
              <a:rPr lang="en" altLang="zh-CN" sz="1900" dirty="0"/>
              <a:t>DD</a:t>
            </a:r>
            <a:r>
              <a:rPr lang="zh-CN" altLang="en-US" sz="1900" dirty="0"/>
              <a:t> ： 提升效率</a:t>
            </a:r>
            <a:endParaRPr lang="en-US" altLang="zh-CN" sz="1900" dirty="0"/>
          </a:p>
          <a:p>
            <a:r>
              <a:rPr lang="zh-CN" altLang="en-US" sz="2300" dirty="0"/>
              <a:t>数据合成，提升性能</a:t>
            </a:r>
            <a:endParaRPr lang="en" altLang="zh-CN" sz="2300" dirty="0"/>
          </a:p>
          <a:p>
            <a:pPr lvl="1"/>
            <a:endParaRPr lang="en-US" altLang="zh-CN" sz="1400" dirty="0"/>
          </a:p>
          <a:p>
            <a:pPr lvl="1"/>
            <a:endParaRPr lang="en-US" altLang="zh-CN" sz="1400" dirty="0"/>
          </a:p>
        </p:txBody>
      </p:sp>
      <p:grpSp>
        <p:nvGrpSpPr>
          <p:cNvPr id="16" name="Google Shape;136;p23">
            <a:extLst>
              <a:ext uri="{FF2B5EF4-FFF2-40B4-BE49-F238E27FC236}">
                <a16:creationId xmlns:a16="http://schemas.microsoft.com/office/drawing/2014/main" id="{CBDECABF-D2CB-7F55-1E65-C435BA38618A}"/>
              </a:ext>
            </a:extLst>
          </p:cNvPr>
          <p:cNvGrpSpPr/>
          <p:nvPr/>
        </p:nvGrpSpPr>
        <p:grpSpPr>
          <a:xfrm>
            <a:off x="607470" y="3088732"/>
            <a:ext cx="1568571" cy="475601"/>
            <a:chOff x="188705" y="912146"/>
            <a:chExt cx="2559301" cy="602940"/>
          </a:xfrm>
          <a:solidFill>
            <a:schemeClr val="bg1"/>
          </a:solidFill>
        </p:grpSpPr>
        <p:sp>
          <p:nvSpPr>
            <p:cNvPr id="18" name="Google Shape;137;p23">
              <a:extLst>
                <a:ext uri="{FF2B5EF4-FFF2-40B4-BE49-F238E27FC236}">
                  <a16:creationId xmlns:a16="http://schemas.microsoft.com/office/drawing/2014/main" id="{5119A702-16EC-8EC4-CD4C-4CCFF5947D4C}"/>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altLang="zh-CN" sz="2000" b="1" dirty="0">
                  <a:solidFill>
                    <a:schemeClr val="dk1"/>
                  </a:solidFill>
                  <a:latin typeface="Comic Sans MS"/>
                  <a:ea typeface="Comic Sans MS"/>
                  <a:cs typeface="Comic Sans MS"/>
                  <a:sym typeface="Comic Sans MS"/>
                </a:rPr>
                <a:t>Motivation</a:t>
              </a:r>
              <a:endParaRPr sz="2000" b="1" dirty="0">
                <a:solidFill>
                  <a:schemeClr val="dk1"/>
                </a:solidFill>
                <a:latin typeface="Comic Sans MS"/>
                <a:ea typeface="Comic Sans MS"/>
                <a:cs typeface="Comic Sans MS"/>
                <a:sym typeface="Comic Sans MS"/>
              </a:endParaRPr>
            </a:p>
          </p:txBody>
        </p:sp>
        <p:sp>
          <p:nvSpPr>
            <p:cNvPr id="20" name="Google Shape;138;p23">
              <a:extLst>
                <a:ext uri="{FF2B5EF4-FFF2-40B4-BE49-F238E27FC236}">
                  <a16:creationId xmlns:a16="http://schemas.microsoft.com/office/drawing/2014/main" id="{6A033EE9-F31B-4E51-4408-2D17BEC0B0B5}"/>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Tree>
    <p:extLst>
      <p:ext uri="{BB962C8B-B14F-4D97-AF65-F5344CB8AC3E}">
        <p14:creationId xmlns:p14="http://schemas.microsoft.com/office/powerpoint/2010/main" val="24158944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96974-E8BA-23C2-D0B1-03E3157A8AB5}"/>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BD652D30-5ECD-B28A-DF94-1B8F9608C428}"/>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grpSp>
        <p:nvGrpSpPr>
          <p:cNvPr id="11" name="Google Shape;136;p23">
            <a:extLst>
              <a:ext uri="{FF2B5EF4-FFF2-40B4-BE49-F238E27FC236}">
                <a16:creationId xmlns:a16="http://schemas.microsoft.com/office/drawing/2014/main" id="{AEC95933-04CC-0EC0-2882-15E4DAA51A9B}"/>
              </a:ext>
            </a:extLst>
          </p:cNvPr>
          <p:cNvGrpSpPr/>
          <p:nvPr/>
        </p:nvGrpSpPr>
        <p:grpSpPr>
          <a:xfrm>
            <a:off x="607471" y="1281152"/>
            <a:ext cx="2414510" cy="475601"/>
            <a:chOff x="188705" y="912146"/>
            <a:chExt cx="2559301" cy="602940"/>
          </a:xfrm>
          <a:solidFill>
            <a:schemeClr val="bg1"/>
          </a:solidFill>
        </p:grpSpPr>
        <p:sp>
          <p:nvSpPr>
            <p:cNvPr id="12" name="Google Shape;137;p23">
              <a:extLst>
                <a:ext uri="{FF2B5EF4-FFF2-40B4-BE49-F238E27FC236}">
                  <a16:creationId xmlns:a16="http://schemas.microsoft.com/office/drawing/2014/main" id="{1F05B847-ED7D-D067-38E1-57414F488575}"/>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 altLang="zh-CN" sz="2000" b="1" dirty="0">
                  <a:solidFill>
                    <a:schemeClr val="dk1"/>
                  </a:solidFill>
                  <a:latin typeface="Comic Sans MS"/>
                </a:rPr>
                <a:t>Core</a:t>
              </a:r>
              <a:r>
                <a:rPr lang="en" altLang="zh-CN" sz="2000" dirty="0"/>
                <a:t> </a:t>
              </a:r>
              <a:r>
                <a:rPr lang="en" altLang="zh-CN" sz="2000" b="1" dirty="0">
                  <a:solidFill>
                    <a:schemeClr val="dk1"/>
                  </a:solidFill>
                  <a:latin typeface="Comic Sans MS"/>
                </a:rPr>
                <a:t>Mechanism</a:t>
              </a:r>
              <a:endParaRPr sz="2000" b="1" dirty="0">
                <a:solidFill>
                  <a:schemeClr val="dk1"/>
                </a:solidFill>
                <a:latin typeface="Comic Sans MS"/>
                <a:sym typeface="Comic Sans MS"/>
              </a:endParaRPr>
            </a:p>
          </p:txBody>
        </p:sp>
        <p:sp>
          <p:nvSpPr>
            <p:cNvPr id="13" name="Google Shape;138;p23">
              <a:extLst>
                <a:ext uri="{FF2B5EF4-FFF2-40B4-BE49-F238E27FC236}">
                  <a16:creationId xmlns:a16="http://schemas.microsoft.com/office/drawing/2014/main" id="{A7848874-094E-7BC9-8772-C892DC9DFEFB}"/>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739B3D22-0544-4440-6B4E-C2A5DC21810C}"/>
              </a:ext>
            </a:extLst>
          </p:cNvPr>
          <p:cNvSpPr/>
          <p:nvPr/>
        </p:nvSpPr>
        <p:spPr>
          <a:xfrm>
            <a:off x="1693785" y="278462"/>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1EE6E6E2-90AC-6BF0-F03C-46ADC5A2B1F8}"/>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8941BB29-05F4-6AB9-01B9-7C809A9AFE3C}"/>
              </a:ext>
            </a:extLst>
          </p:cNvPr>
          <p:cNvSpPr txBox="1"/>
          <p:nvPr/>
        </p:nvSpPr>
        <p:spPr>
          <a:xfrm>
            <a:off x="1870848" y="309596"/>
            <a:ext cx="4225152" cy="369332"/>
          </a:xfrm>
          <a:prstGeom prst="rect">
            <a:avLst/>
          </a:prstGeom>
          <a:noFill/>
        </p:spPr>
        <p:txBody>
          <a:bodyPr wrap="square">
            <a:spAutoFit/>
          </a:bodyPr>
          <a:lstStyle/>
          <a:p>
            <a:r>
              <a:rPr lang="en" altLang="zh-CN" dirty="0">
                <a:solidFill>
                  <a:srgbClr val="003C5A"/>
                </a:solidFill>
              </a:rPr>
              <a:t> </a:t>
            </a:r>
            <a:r>
              <a:rPr lang="en" altLang="zh-CN" dirty="0">
                <a:solidFill>
                  <a:srgbClr val="003C5A"/>
                </a:solidFill>
                <a:latin typeface="Arial" panose="020B0604020202020204" pitchFamily="34" charset="0"/>
                <a:cs typeface="Arial" panose="020B0604020202020204" pitchFamily="34" charset="0"/>
              </a:rPr>
              <a:t>I:</a:t>
            </a:r>
            <a:r>
              <a:rPr lang="en" altLang="zh-CN" dirty="0">
                <a:solidFill>
                  <a:srgbClr val="000000"/>
                </a:solidFill>
                <a:latin typeface="Arial"/>
                <a:cs typeface="Arial"/>
              </a:rPr>
              <a:t> </a:t>
            </a:r>
            <a:r>
              <a:rPr lang="en" altLang="zh-CN" dirty="0">
                <a:solidFill>
                  <a:srgbClr val="003C5A"/>
                </a:solidFill>
                <a:latin typeface="Arial" panose="020B0604020202020204" pitchFamily="34" charset="0"/>
                <a:cs typeface="Arial" panose="020B0604020202020204" pitchFamily="34" charset="0"/>
              </a:rPr>
              <a:t>DR4RS          </a:t>
            </a:r>
            <a:r>
              <a:rPr lang="en" altLang="zh-CN" dirty="0">
                <a:solidFill>
                  <a:schemeClr val="bg1"/>
                </a:solidFill>
                <a:latin typeface="Arial" panose="020B0604020202020204" pitchFamily="34" charset="0"/>
                <a:cs typeface="Arial" panose="020B0604020202020204" pitchFamily="34" charset="0"/>
              </a:rPr>
              <a:t>II: RSIR  </a:t>
            </a:r>
            <a:r>
              <a:rPr lang="zh-CN" altLang="en-US" dirty="0">
                <a:solidFill>
                  <a:schemeClr val="bg1"/>
                </a:solidFill>
                <a:latin typeface="Arial" panose="020B0604020202020204" pitchFamily="34" charset="0"/>
                <a:cs typeface="Arial" panose="020B0604020202020204" pitchFamily="34" charset="0"/>
              </a:rPr>
              <a:t>   </a:t>
            </a:r>
            <a:r>
              <a:rPr lang="en-US" altLang="zh-CN" dirty="0">
                <a:solidFill>
                  <a:schemeClr val="bg1"/>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4E50329C-E335-718C-492B-1809FAD19DC0}"/>
              </a:ext>
            </a:extLst>
          </p:cNvPr>
          <p:cNvSpPr>
            <a:spLocks noGrp="1"/>
          </p:cNvSpPr>
          <p:nvPr>
            <p:ph type="sldNum" sz="quarter" idx="12"/>
          </p:nvPr>
        </p:nvSpPr>
        <p:spPr/>
        <p:txBody>
          <a:bodyPr/>
          <a:lstStyle/>
          <a:p>
            <a:fld id="{F4F8D3FC-E4A1-684A-A978-3E74850AAFB0}" type="slidenum">
              <a:rPr kumimoji="1" lang="zh-CN" altLang="en-US" smtClean="0"/>
              <a:t>4</a:t>
            </a:fld>
            <a:endParaRPr kumimoji="1" lang="zh-CN" altLang="en-US" dirty="0"/>
          </a:p>
        </p:txBody>
      </p:sp>
      <p:pic>
        <p:nvPicPr>
          <p:cNvPr id="2" name="图片 1">
            <a:extLst>
              <a:ext uri="{FF2B5EF4-FFF2-40B4-BE49-F238E27FC236}">
                <a16:creationId xmlns:a16="http://schemas.microsoft.com/office/drawing/2014/main" id="{DC8B3534-674C-2CF7-3B48-4C9650318F56}"/>
              </a:ext>
            </a:extLst>
          </p:cNvPr>
          <p:cNvPicPr>
            <a:picLocks noChangeAspect="1"/>
          </p:cNvPicPr>
          <p:nvPr/>
        </p:nvPicPr>
        <p:blipFill>
          <a:blip r:embed="rId3"/>
          <a:stretch>
            <a:fillRect/>
          </a:stretch>
        </p:blipFill>
        <p:spPr>
          <a:xfrm>
            <a:off x="1537692" y="1991022"/>
            <a:ext cx="7885088" cy="2921535"/>
          </a:xfrm>
          <a:prstGeom prst="rect">
            <a:avLst/>
          </a:prstGeom>
        </p:spPr>
      </p:pic>
      <p:sp>
        <p:nvSpPr>
          <p:cNvPr id="10" name="文本框 9">
            <a:extLst>
              <a:ext uri="{FF2B5EF4-FFF2-40B4-BE49-F238E27FC236}">
                <a16:creationId xmlns:a16="http://schemas.microsoft.com/office/drawing/2014/main" id="{A45129D6-1D2A-019A-1282-C6E8B0156092}"/>
              </a:ext>
            </a:extLst>
          </p:cNvPr>
          <p:cNvSpPr txBox="1"/>
          <p:nvPr/>
        </p:nvSpPr>
        <p:spPr>
          <a:xfrm>
            <a:off x="1537692" y="5059148"/>
            <a:ext cx="5677147" cy="369332"/>
          </a:xfrm>
          <a:prstGeom prst="rect">
            <a:avLst/>
          </a:prstGeom>
          <a:noFill/>
        </p:spPr>
        <p:txBody>
          <a:bodyPr wrap="square">
            <a:spAutoFit/>
          </a:bodyPr>
          <a:lstStyle/>
          <a:p>
            <a:r>
              <a:rPr lang="zh-CN" altLang="en-US" dirty="0"/>
              <a:t>模块分解 ： 数据模式生成器 </a:t>
            </a:r>
            <a:r>
              <a:rPr lang="en-US" altLang="zh-CN" dirty="0"/>
              <a:t>+ </a:t>
            </a:r>
            <a:r>
              <a:rPr lang="zh-CN" altLang="en-US" dirty="0"/>
              <a:t>目标模型重加权。</a:t>
            </a:r>
          </a:p>
        </p:txBody>
      </p:sp>
      <p:grpSp>
        <p:nvGrpSpPr>
          <p:cNvPr id="14" name="Google Shape;136;p23">
            <a:extLst>
              <a:ext uri="{FF2B5EF4-FFF2-40B4-BE49-F238E27FC236}">
                <a16:creationId xmlns:a16="http://schemas.microsoft.com/office/drawing/2014/main" id="{0748ACA4-89FC-5A02-4D76-AC0F454E672B}"/>
              </a:ext>
            </a:extLst>
          </p:cNvPr>
          <p:cNvGrpSpPr/>
          <p:nvPr/>
        </p:nvGrpSpPr>
        <p:grpSpPr>
          <a:xfrm>
            <a:off x="607471" y="5575072"/>
            <a:ext cx="1228405" cy="475601"/>
            <a:chOff x="188705" y="912146"/>
            <a:chExt cx="2559301" cy="602940"/>
          </a:xfrm>
          <a:solidFill>
            <a:schemeClr val="bg1"/>
          </a:solidFill>
        </p:grpSpPr>
        <p:sp>
          <p:nvSpPr>
            <p:cNvPr id="21" name="Google Shape;137;p23">
              <a:extLst>
                <a:ext uri="{FF2B5EF4-FFF2-40B4-BE49-F238E27FC236}">
                  <a16:creationId xmlns:a16="http://schemas.microsoft.com/office/drawing/2014/main" id="{24880DAB-DA9F-0179-754E-4D59420DF670}"/>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sz="2000" b="1" dirty="0">
                  <a:solidFill>
                    <a:schemeClr val="dk1"/>
                  </a:solidFill>
                  <a:latin typeface="Comic Sans MS"/>
                  <a:ea typeface="Comic Sans MS"/>
                  <a:cs typeface="Comic Sans MS"/>
                  <a:sym typeface="Comic Sans MS"/>
                </a:rPr>
                <a:t>insight</a:t>
              </a:r>
              <a:endParaRPr sz="2000" b="1" dirty="0">
                <a:solidFill>
                  <a:schemeClr val="dk1"/>
                </a:solidFill>
                <a:latin typeface="Comic Sans MS"/>
                <a:ea typeface="Comic Sans MS"/>
                <a:cs typeface="Comic Sans MS"/>
                <a:sym typeface="Comic Sans MS"/>
              </a:endParaRPr>
            </a:p>
          </p:txBody>
        </p:sp>
        <p:sp>
          <p:nvSpPr>
            <p:cNvPr id="22" name="Google Shape;138;p23">
              <a:extLst>
                <a:ext uri="{FF2B5EF4-FFF2-40B4-BE49-F238E27FC236}">
                  <a16:creationId xmlns:a16="http://schemas.microsoft.com/office/drawing/2014/main" id="{7BB53E14-B39B-6F2D-580E-B532B9C25A46}"/>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23" name="文本框 22">
            <a:extLst>
              <a:ext uri="{FF2B5EF4-FFF2-40B4-BE49-F238E27FC236}">
                <a16:creationId xmlns:a16="http://schemas.microsoft.com/office/drawing/2014/main" id="{BAE8EB25-AD6F-A3B9-E445-268E1C12BB0B}"/>
              </a:ext>
            </a:extLst>
          </p:cNvPr>
          <p:cNvSpPr txBox="1"/>
          <p:nvPr/>
        </p:nvSpPr>
        <p:spPr>
          <a:xfrm>
            <a:off x="2106392" y="5973595"/>
            <a:ext cx="5030388" cy="369332"/>
          </a:xfrm>
          <a:prstGeom prst="rect">
            <a:avLst/>
          </a:prstGeom>
          <a:noFill/>
        </p:spPr>
        <p:txBody>
          <a:bodyPr wrap="square">
            <a:spAutoFit/>
          </a:bodyPr>
          <a:lstStyle/>
          <a:p>
            <a:r>
              <a:rPr lang="zh-CN" altLang="en-US" dirty="0"/>
              <a:t>需要对数据进行重加权以面对不同目标模型</a:t>
            </a:r>
          </a:p>
        </p:txBody>
      </p:sp>
    </p:spTree>
    <p:extLst>
      <p:ext uri="{BB962C8B-B14F-4D97-AF65-F5344CB8AC3E}">
        <p14:creationId xmlns:p14="http://schemas.microsoft.com/office/powerpoint/2010/main" val="64668891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9FB44-68EC-BA89-20C6-84D45CCDF123}"/>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A8854C61-2B22-6D63-53FA-BAC8420C88B4}"/>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grpSp>
        <p:nvGrpSpPr>
          <p:cNvPr id="11" name="Google Shape;136;p23">
            <a:extLst>
              <a:ext uri="{FF2B5EF4-FFF2-40B4-BE49-F238E27FC236}">
                <a16:creationId xmlns:a16="http://schemas.microsoft.com/office/drawing/2014/main" id="{0B277CA8-B19F-D517-27E4-B09887839353}"/>
              </a:ext>
            </a:extLst>
          </p:cNvPr>
          <p:cNvGrpSpPr/>
          <p:nvPr/>
        </p:nvGrpSpPr>
        <p:grpSpPr>
          <a:xfrm>
            <a:off x="607471" y="1281152"/>
            <a:ext cx="1591719" cy="475601"/>
            <a:chOff x="188705" y="912146"/>
            <a:chExt cx="2559301" cy="602940"/>
          </a:xfrm>
          <a:solidFill>
            <a:schemeClr val="bg1"/>
          </a:solidFill>
        </p:grpSpPr>
        <p:sp>
          <p:nvSpPr>
            <p:cNvPr id="12" name="Google Shape;137;p23">
              <a:extLst>
                <a:ext uri="{FF2B5EF4-FFF2-40B4-BE49-F238E27FC236}">
                  <a16:creationId xmlns:a16="http://schemas.microsoft.com/office/drawing/2014/main" id="{BBFAC58A-0743-E2CF-54AB-518E4F774AD0}"/>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US" altLang="zh-CN" sz="2000" b="1" dirty="0">
                  <a:solidFill>
                    <a:schemeClr val="dk1"/>
                  </a:solidFill>
                  <a:latin typeface="Comic Sans MS"/>
                  <a:sym typeface="Comic Sans MS"/>
                </a:rPr>
                <a:t>Question</a:t>
              </a:r>
              <a:endParaRPr sz="2000" b="1" dirty="0">
                <a:solidFill>
                  <a:schemeClr val="dk1"/>
                </a:solidFill>
                <a:latin typeface="Comic Sans MS"/>
                <a:sym typeface="Comic Sans MS"/>
              </a:endParaRPr>
            </a:p>
          </p:txBody>
        </p:sp>
        <p:sp>
          <p:nvSpPr>
            <p:cNvPr id="13" name="Google Shape;138;p23">
              <a:extLst>
                <a:ext uri="{FF2B5EF4-FFF2-40B4-BE49-F238E27FC236}">
                  <a16:creationId xmlns:a16="http://schemas.microsoft.com/office/drawing/2014/main" id="{03245017-DFEA-0566-D3FC-BAB9A9923227}"/>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896CCC06-93FE-A535-3F09-6ED898993EF7}"/>
              </a:ext>
            </a:extLst>
          </p:cNvPr>
          <p:cNvSpPr/>
          <p:nvPr/>
        </p:nvSpPr>
        <p:spPr>
          <a:xfrm>
            <a:off x="1693785" y="278462"/>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25C67498-6BA0-D9B8-DB4E-6174EA8C31A0}"/>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342252EB-DFCF-9D63-E4A1-7061B3E773D7}"/>
              </a:ext>
            </a:extLst>
          </p:cNvPr>
          <p:cNvSpPr txBox="1"/>
          <p:nvPr/>
        </p:nvSpPr>
        <p:spPr>
          <a:xfrm>
            <a:off x="1870848" y="309596"/>
            <a:ext cx="4225152" cy="369332"/>
          </a:xfrm>
          <a:prstGeom prst="rect">
            <a:avLst/>
          </a:prstGeom>
          <a:noFill/>
        </p:spPr>
        <p:txBody>
          <a:bodyPr wrap="square">
            <a:spAutoFit/>
          </a:bodyPr>
          <a:lstStyle/>
          <a:p>
            <a:r>
              <a:rPr lang="en" altLang="zh-CN" dirty="0">
                <a:solidFill>
                  <a:srgbClr val="003C5A"/>
                </a:solidFill>
              </a:rPr>
              <a:t> </a:t>
            </a:r>
            <a:r>
              <a:rPr lang="en" altLang="zh-CN" dirty="0">
                <a:solidFill>
                  <a:srgbClr val="003C5A"/>
                </a:solidFill>
                <a:latin typeface="Arial" panose="020B0604020202020204" pitchFamily="34" charset="0"/>
                <a:cs typeface="Arial" panose="020B0604020202020204" pitchFamily="34" charset="0"/>
              </a:rPr>
              <a:t>I:</a:t>
            </a:r>
            <a:r>
              <a:rPr lang="en" altLang="zh-CN" dirty="0">
                <a:solidFill>
                  <a:srgbClr val="000000"/>
                </a:solidFill>
                <a:latin typeface="Arial"/>
                <a:cs typeface="Arial"/>
              </a:rPr>
              <a:t> </a:t>
            </a:r>
            <a:r>
              <a:rPr lang="en" altLang="zh-CN" dirty="0">
                <a:solidFill>
                  <a:srgbClr val="003C5A"/>
                </a:solidFill>
                <a:latin typeface="Arial" panose="020B0604020202020204" pitchFamily="34" charset="0"/>
                <a:cs typeface="Arial" panose="020B0604020202020204" pitchFamily="34" charset="0"/>
              </a:rPr>
              <a:t>DR4RS          </a:t>
            </a:r>
            <a:r>
              <a:rPr lang="en" altLang="zh-CN" dirty="0">
                <a:solidFill>
                  <a:schemeClr val="bg1"/>
                </a:solidFill>
                <a:latin typeface="Arial" panose="020B0604020202020204" pitchFamily="34" charset="0"/>
                <a:cs typeface="Arial" panose="020B0604020202020204" pitchFamily="34" charset="0"/>
              </a:rPr>
              <a:t>II: RSIR  </a:t>
            </a:r>
            <a:r>
              <a:rPr lang="zh-CN" altLang="en-US" dirty="0">
                <a:solidFill>
                  <a:schemeClr val="bg1"/>
                </a:solidFill>
                <a:latin typeface="Arial" panose="020B0604020202020204" pitchFamily="34" charset="0"/>
                <a:cs typeface="Arial" panose="020B0604020202020204" pitchFamily="34" charset="0"/>
              </a:rPr>
              <a:t>   </a:t>
            </a:r>
            <a:r>
              <a:rPr lang="en-US" altLang="zh-CN" dirty="0">
                <a:solidFill>
                  <a:schemeClr val="bg1"/>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69E562A2-F205-8AF0-6214-D5B80268E02B}"/>
              </a:ext>
            </a:extLst>
          </p:cNvPr>
          <p:cNvSpPr>
            <a:spLocks noGrp="1"/>
          </p:cNvSpPr>
          <p:nvPr>
            <p:ph type="sldNum" sz="quarter" idx="12"/>
          </p:nvPr>
        </p:nvSpPr>
        <p:spPr/>
        <p:txBody>
          <a:bodyPr/>
          <a:lstStyle/>
          <a:p>
            <a:fld id="{F4F8D3FC-E4A1-684A-A978-3E74850AAFB0}" type="slidenum">
              <a:rPr kumimoji="1" lang="zh-CN" altLang="en-US" smtClean="0"/>
              <a:t>5</a:t>
            </a:fld>
            <a:endParaRPr kumimoji="1" lang="zh-CN" altLang="en-US" dirty="0"/>
          </a:p>
        </p:txBody>
      </p:sp>
      <p:sp>
        <p:nvSpPr>
          <p:cNvPr id="3" name="文本框 2">
            <a:extLst>
              <a:ext uri="{FF2B5EF4-FFF2-40B4-BE49-F238E27FC236}">
                <a16:creationId xmlns:a16="http://schemas.microsoft.com/office/drawing/2014/main" id="{B9BC02C8-B94F-FC53-8838-C72B513FE30C}"/>
              </a:ext>
            </a:extLst>
          </p:cNvPr>
          <p:cNvSpPr txBox="1"/>
          <p:nvPr/>
        </p:nvSpPr>
        <p:spPr>
          <a:xfrm>
            <a:off x="1283048" y="2186209"/>
            <a:ext cx="7409539" cy="1323439"/>
          </a:xfrm>
          <a:prstGeom prst="rect">
            <a:avLst/>
          </a:prstGeom>
          <a:noFill/>
        </p:spPr>
        <p:txBody>
          <a:bodyPr wrap="square">
            <a:spAutoFit/>
          </a:bodyPr>
          <a:lstStyle/>
          <a:p>
            <a:pPr marL="285750" indent="-285750">
              <a:buFont typeface="Arial" panose="020B0604020202020204" pitchFamily="34" charset="0"/>
              <a:buChar char="•"/>
            </a:pPr>
            <a:r>
              <a:rPr lang="zh-CN" altLang="en-US" sz="2000" dirty="0"/>
              <a:t>仅仅依赖于出现频率对转移模式进行筛选可能会导致数据集中在某个高频局域内</a:t>
            </a:r>
            <a:endParaRPr lang="en-US" altLang="zh-CN" sz="2000" dirty="0"/>
          </a:p>
          <a:p>
            <a:pPr marL="285750" indent="-285750">
              <a:buFont typeface="Arial" panose="020B0604020202020204" pitchFamily="34" charset="0"/>
              <a:buChar char="•"/>
            </a:pPr>
            <a:endParaRPr lang="en-US" altLang="zh-CN" sz="2000" dirty="0"/>
          </a:p>
          <a:p>
            <a:pPr marL="285750" indent="-285750">
              <a:buFont typeface="Arial" panose="020B0604020202020204" pitchFamily="34" charset="0"/>
              <a:buChar char="•"/>
            </a:pPr>
            <a:r>
              <a:rPr lang="zh-CN" altLang="en-US" sz="2000" dirty="0"/>
              <a:t>论文并没有给为什么</a:t>
            </a:r>
            <a:r>
              <a:rPr lang="en-US" altLang="zh-CN" sz="2000" dirty="0"/>
              <a:t>DR4RS</a:t>
            </a:r>
            <a:r>
              <a:rPr lang="zh-CN" altLang="en-US" sz="2000" dirty="0"/>
              <a:t>能够</a:t>
            </a:r>
            <a:r>
              <a:rPr lang="en-US" altLang="zh-CN" sz="2000" dirty="0"/>
              <a:t>work</a:t>
            </a:r>
            <a:r>
              <a:rPr lang="zh-CN" altLang="en-US" sz="2000" dirty="0"/>
              <a:t>给出严谨解释</a:t>
            </a:r>
            <a:endParaRPr lang="en-US" altLang="zh-CN" sz="2000" dirty="0"/>
          </a:p>
        </p:txBody>
      </p:sp>
    </p:spTree>
    <p:extLst>
      <p:ext uri="{BB962C8B-B14F-4D97-AF65-F5344CB8AC3E}">
        <p14:creationId xmlns:p14="http://schemas.microsoft.com/office/powerpoint/2010/main" val="192733315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F6A68-95EF-ADB9-44F6-40F422A7B5DA}"/>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4A6C42E8-1A62-C082-E4DE-26551FBF70C6}"/>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11CACA67-9A94-3E71-E745-407C31D6D874}"/>
              </a:ext>
            </a:extLst>
          </p:cNvPr>
          <p:cNvSpPr>
            <a:spLocks noGrp="1"/>
          </p:cNvSpPr>
          <p:nvPr>
            <p:ph idx="1"/>
          </p:nvPr>
        </p:nvSpPr>
        <p:spPr>
          <a:xfrm>
            <a:off x="834958" y="1905000"/>
            <a:ext cx="8737600" cy="1149965"/>
          </a:xfrm>
        </p:spPr>
        <p:txBody>
          <a:bodyPr>
            <a:normAutofit/>
          </a:bodyPr>
          <a:lstStyle/>
          <a:p>
            <a:r>
              <a:rPr lang="zh-CN" altLang="en-US" sz="1800" dirty="0"/>
              <a:t>序列推荐问题</a:t>
            </a:r>
            <a:endParaRPr lang="en-US" altLang="zh-CN" sz="1800" dirty="0"/>
          </a:p>
          <a:p>
            <a:r>
              <a:rPr lang="zh-CN" altLang="en-US" sz="1800" dirty="0"/>
              <a:t>用户和系统交互少，数据稀疏，模型得出泛化差的解</a:t>
            </a:r>
          </a:p>
          <a:p>
            <a:endParaRPr lang="en-US" altLang="zh-CN" sz="1800" dirty="0"/>
          </a:p>
        </p:txBody>
      </p:sp>
      <p:grpSp>
        <p:nvGrpSpPr>
          <p:cNvPr id="11" name="Google Shape;136;p23">
            <a:extLst>
              <a:ext uri="{FF2B5EF4-FFF2-40B4-BE49-F238E27FC236}">
                <a16:creationId xmlns:a16="http://schemas.microsoft.com/office/drawing/2014/main" id="{157CFE04-A372-CCE9-F76C-1B2D29C82BED}"/>
              </a:ext>
            </a:extLst>
          </p:cNvPr>
          <p:cNvGrpSpPr/>
          <p:nvPr/>
        </p:nvGrpSpPr>
        <p:grpSpPr>
          <a:xfrm>
            <a:off x="607470" y="1281152"/>
            <a:ext cx="2552419" cy="475601"/>
            <a:chOff x="188705" y="912146"/>
            <a:chExt cx="2559301" cy="602940"/>
          </a:xfrm>
          <a:solidFill>
            <a:schemeClr val="bg1"/>
          </a:solidFill>
        </p:grpSpPr>
        <p:sp>
          <p:nvSpPr>
            <p:cNvPr id="12" name="Google Shape;137;p23">
              <a:extLst>
                <a:ext uri="{FF2B5EF4-FFF2-40B4-BE49-F238E27FC236}">
                  <a16:creationId xmlns:a16="http://schemas.microsoft.com/office/drawing/2014/main" id="{0B023E4E-B3F7-CF05-9890-23704E40DE5F}"/>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2000" b="1" dirty="0">
                  <a:solidFill>
                    <a:schemeClr val="dk1"/>
                  </a:solidFill>
                  <a:latin typeface="Comic Sans MS"/>
                  <a:ea typeface="Comic Sans MS"/>
                  <a:cs typeface="Comic Sans MS"/>
                  <a:sym typeface="Comic Sans MS"/>
                </a:rPr>
                <a:t>Problem</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Definition</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622A9D53-A0E7-12D4-8AE4-D276A56CFDCC}"/>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61E584F5-D6A0-0EB6-3FAE-487B4057CE14}"/>
              </a:ext>
            </a:extLst>
          </p:cNvPr>
          <p:cNvSpPr/>
          <p:nvPr/>
        </p:nvSpPr>
        <p:spPr>
          <a:xfrm>
            <a:off x="3202704" y="266993"/>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33D63F3A-A69E-03EE-895C-9CDDB6BBE468}"/>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97125D3C-8F61-956E-D205-66701B2AED40}"/>
              </a:ext>
            </a:extLst>
          </p:cNvPr>
          <p:cNvSpPr txBox="1"/>
          <p:nvPr/>
        </p:nvSpPr>
        <p:spPr>
          <a:xfrm>
            <a:off x="1864255" y="298185"/>
            <a:ext cx="4225152" cy="369332"/>
          </a:xfrm>
          <a:prstGeom prst="rect">
            <a:avLst/>
          </a:prstGeom>
          <a:noFill/>
        </p:spPr>
        <p:txBody>
          <a:bodyPr wrap="square">
            <a:spAutoFit/>
          </a:bodyPr>
          <a:lstStyle/>
          <a:p>
            <a:r>
              <a:rPr lang="en" altLang="zh-CN" dirty="0">
                <a:solidFill>
                  <a:schemeClr val="bg1"/>
                </a:solidFill>
                <a:latin typeface="Arial" panose="020B0604020202020204" pitchFamily="34" charset="0"/>
                <a:cs typeface="Arial" panose="020B0604020202020204" pitchFamily="34" charset="0"/>
              </a:rPr>
              <a:t> I: DR4RS     </a:t>
            </a:r>
            <a:r>
              <a:rPr lang="en" altLang="zh-CN" dirty="0">
                <a:solidFill>
                  <a:srgbClr val="003C5A"/>
                </a:solidFill>
                <a:latin typeface="Arial" panose="020B0604020202020204" pitchFamily="34" charset="0"/>
                <a:cs typeface="Arial" panose="020B0604020202020204" pitchFamily="34" charset="0"/>
              </a:rPr>
              <a:t>     II: RSIR  </a:t>
            </a:r>
            <a:r>
              <a:rPr lang="zh-CN" altLang="en-US" dirty="0">
                <a:solidFill>
                  <a:srgbClr val="003C5A"/>
                </a:solidFill>
                <a:latin typeface="Arial" panose="020B0604020202020204" pitchFamily="34" charset="0"/>
                <a:cs typeface="Arial" panose="020B0604020202020204" pitchFamily="34" charset="0"/>
              </a:rPr>
              <a:t>   </a:t>
            </a:r>
            <a:r>
              <a:rPr lang="en-US" altLang="zh-CN" dirty="0">
                <a:solidFill>
                  <a:srgbClr val="003C5A"/>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84B68F86-19CE-B98E-01B0-31E1137EC7D7}"/>
              </a:ext>
            </a:extLst>
          </p:cNvPr>
          <p:cNvSpPr>
            <a:spLocks noGrp="1"/>
          </p:cNvSpPr>
          <p:nvPr>
            <p:ph type="sldNum" sz="quarter" idx="12"/>
          </p:nvPr>
        </p:nvSpPr>
        <p:spPr/>
        <p:txBody>
          <a:bodyPr/>
          <a:lstStyle/>
          <a:p>
            <a:fld id="{F4F8D3FC-E4A1-684A-A978-3E74850AAFB0}" type="slidenum">
              <a:rPr kumimoji="1" lang="zh-CN" altLang="en-US" smtClean="0"/>
              <a:t>6</a:t>
            </a:fld>
            <a:endParaRPr kumimoji="1" lang="zh-CN" altLang="en-US" dirty="0"/>
          </a:p>
        </p:txBody>
      </p:sp>
      <p:grpSp>
        <p:nvGrpSpPr>
          <p:cNvPr id="16" name="Google Shape;136;p23">
            <a:extLst>
              <a:ext uri="{FF2B5EF4-FFF2-40B4-BE49-F238E27FC236}">
                <a16:creationId xmlns:a16="http://schemas.microsoft.com/office/drawing/2014/main" id="{2353924B-DDE2-DB36-1E2A-D171799E8993}"/>
              </a:ext>
            </a:extLst>
          </p:cNvPr>
          <p:cNvGrpSpPr/>
          <p:nvPr/>
        </p:nvGrpSpPr>
        <p:grpSpPr>
          <a:xfrm>
            <a:off x="607470" y="3088732"/>
            <a:ext cx="1568571" cy="475601"/>
            <a:chOff x="188705" y="912146"/>
            <a:chExt cx="2559301" cy="602940"/>
          </a:xfrm>
          <a:solidFill>
            <a:schemeClr val="bg1"/>
          </a:solidFill>
        </p:grpSpPr>
        <p:sp>
          <p:nvSpPr>
            <p:cNvPr id="18" name="Google Shape;137;p23">
              <a:extLst>
                <a:ext uri="{FF2B5EF4-FFF2-40B4-BE49-F238E27FC236}">
                  <a16:creationId xmlns:a16="http://schemas.microsoft.com/office/drawing/2014/main" id="{43ADE0EB-F429-1603-1F9D-95D7CA421990}"/>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altLang="zh-CN" sz="2000" b="1" dirty="0">
                  <a:solidFill>
                    <a:schemeClr val="dk1"/>
                  </a:solidFill>
                  <a:latin typeface="Comic Sans MS"/>
                  <a:ea typeface="Comic Sans MS"/>
                  <a:cs typeface="Comic Sans MS"/>
                  <a:sym typeface="Comic Sans MS"/>
                </a:rPr>
                <a:t>Motivation</a:t>
              </a:r>
              <a:endParaRPr sz="2000" b="1" dirty="0">
                <a:solidFill>
                  <a:schemeClr val="dk1"/>
                </a:solidFill>
                <a:latin typeface="Comic Sans MS"/>
                <a:ea typeface="Comic Sans MS"/>
                <a:cs typeface="Comic Sans MS"/>
                <a:sym typeface="Comic Sans MS"/>
              </a:endParaRPr>
            </a:p>
          </p:txBody>
        </p:sp>
        <p:sp>
          <p:nvSpPr>
            <p:cNvPr id="20" name="Google Shape;138;p23">
              <a:extLst>
                <a:ext uri="{FF2B5EF4-FFF2-40B4-BE49-F238E27FC236}">
                  <a16:creationId xmlns:a16="http://schemas.microsoft.com/office/drawing/2014/main" id="{9542835F-2202-1F52-561C-61290B32FB02}"/>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2" name="内容占位符 2">
            <a:extLst>
              <a:ext uri="{FF2B5EF4-FFF2-40B4-BE49-F238E27FC236}">
                <a16:creationId xmlns:a16="http://schemas.microsoft.com/office/drawing/2014/main" id="{A0615D9B-08EB-BEDA-D1BA-8DF5D80EBA2B}"/>
              </a:ext>
            </a:extLst>
          </p:cNvPr>
          <p:cNvSpPr txBox="1">
            <a:spLocks/>
          </p:cNvSpPr>
          <p:nvPr/>
        </p:nvSpPr>
        <p:spPr>
          <a:xfrm>
            <a:off x="834958" y="3712581"/>
            <a:ext cx="8737600" cy="1784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900" b="1" dirty="0"/>
              <a:t>Gap</a:t>
            </a:r>
            <a:r>
              <a:rPr lang="zh-CN" altLang="en-US" sz="1900" b="1" dirty="0"/>
              <a:t> ： </a:t>
            </a:r>
            <a:endParaRPr lang="en-US" altLang="zh-CN" sz="1900" b="1" dirty="0"/>
          </a:p>
          <a:p>
            <a:pPr lvl="1"/>
            <a:r>
              <a:rPr lang="zh-CN" altLang="en-US" sz="1800" dirty="0"/>
              <a:t>整理数据集 ： 昂贵、限定领域</a:t>
            </a:r>
            <a:endParaRPr lang="en-US" altLang="zh-CN" sz="1800" dirty="0"/>
          </a:p>
          <a:p>
            <a:pPr lvl="1"/>
            <a:r>
              <a:rPr lang="zh-CN" altLang="en-US" sz="1800" dirty="0"/>
              <a:t>利用教师模型 ：引入依赖关系，与真实用户行为分布不匹配</a:t>
            </a:r>
            <a:endParaRPr lang="en-US" altLang="zh-CN" sz="1800" dirty="0"/>
          </a:p>
          <a:p>
            <a:r>
              <a:rPr lang="zh-CN" altLang="en-US" sz="1800" dirty="0"/>
              <a:t>递归自我改进 ： 模型利用自身对部分数据的理解，产生更强的数据集 </a:t>
            </a:r>
            <a:endParaRPr lang="en-US" altLang="zh-CN" sz="1800" dirty="0"/>
          </a:p>
        </p:txBody>
      </p:sp>
    </p:spTree>
    <p:extLst>
      <p:ext uri="{BB962C8B-B14F-4D97-AF65-F5344CB8AC3E}">
        <p14:creationId xmlns:p14="http://schemas.microsoft.com/office/powerpoint/2010/main" val="40362034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7682E-5AE0-AF3C-C515-CBE81F35F825}"/>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2A89866C-4DE3-3D0F-1527-604BC5409BF5}"/>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E1709779-F181-58C4-07FD-42002DBBA25F}"/>
              </a:ext>
            </a:extLst>
          </p:cNvPr>
          <p:cNvSpPr>
            <a:spLocks noGrp="1"/>
          </p:cNvSpPr>
          <p:nvPr>
            <p:ph idx="1"/>
          </p:nvPr>
        </p:nvSpPr>
        <p:spPr>
          <a:xfrm>
            <a:off x="777084" y="1664017"/>
            <a:ext cx="8737600" cy="680517"/>
          </a:xfrm>
        </p:spPr>
        <p:txBody>
          <a:bodyPr>
            <a:normAutofit/>
          </a:bodyPr>
          <a:lstStyle/>
          <a:p>
            <a:r>
              <a:rPr lang="zh-CN" altLang="en-US" sz="1800" dirty="0"/>
              <a:t>模型参数更新 </a:t>
            </a:r>
            <a:r>
              <a:rPr lang="en-US" altLang="zh-CN" sz="1800" dirty="0"/>
              <a:t>+</a:t>
            </a:r>
            <a:r>
              <a:rPr lang="zh-CN" altLang="en-US" sz="1800" dirty="0"/>
              <a:t> 数据集更新</a:t>
            </a:r>
            <a:endParaRPr lang="en-US" altLang="zh-CN" sz="1800" dirty="0"/>
          </a:p>
        </p:txBody>
      </p:sp>
      <p:sp>
        <p:nvSpPr>
          <p:cNvPr id="17" name="圆角矩形 16">
            <a:extLst>
              <a:ext uri="{FF2B5EF4-FFF2-40B4-BE49-F238E27FC236}">
                <a16:creationId xmlns:a16="http://schemas.microsoft.com/office/drawing/2014/main" id="{7D189F8F-2F1B-3509-DA27-AF6CF638D006}"/>
              </a:ext>
            </a:extLst>
          </p:cNvPr>
          <p:cNvSpPr/>
          <p:nvPr/>
        </p:nvSpPr>
        <p:spPr>
          <a:xfrm>
            <a:off x="3202704" y="266993"/>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FC27B42A-3071-004B-56A0-03250D0C482E}"/>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E2EFA079-4C07-B383-3421-8711D5E09F7A}"/>
              </a:ext>
            </a:extLst>
          </p:cNvPr>
          <p:cNvSpPr txBox="1"/>
          <p:nvPr/>
        </p:nvSpPr>
        <p:spPr>
          <a:xfrm>
            <a:off x="1864255" y="298185"/>
            <a:ext cx="4225152" cy="369332"/>
          </a:xfrm>
          <a:prstGeom prst="rect">
            <a:avLst/>
          </a:prstGeom>
          <a:noFill/>
        </p:spPr>
        <p:txBody>
          <a:bodyPr wrap="square">
            <a:spAutoFit/>
          </a:bodyPr>
          <a:lstStyle/>
          <a:p>
            <a:r>
              <a:rPr lang="en" altLang="zh-CN" dirty="0">
                <a:solidFill>
                  <a:schemeClr val="bg1"/>
                </a:solidFill>
                <a:latin typeface="Arial" panose="020B0604020202020204" pitchFamily="34" charset="0"/>
                <a:cs typeface="Arial" panose="020B0604020202020204" pitchFamily="34" charset="0"/>
              </a:rPr>
              <a:t> I: DR4RS     </a:t>
            </a:r>
            <a:r>
              <a:rPr lang="en" altLang="zh-CN" dirty="0">
                <a:solidFill>
                  <a:srgbClr val="003C5A"/>
                </a:solidFill>
                <a:latin typeface="Arial" panose="020B0604020202020204" pitchFamily="34" charset="0"/>
                <a:cs typeface="Arial" panose="020B0604020202020204" pitchFamily="34" charset="0"/>
              </a:rPr>
              <a:t>     II: RSIR  </a:t>
            </a:r>
            <a:r>
              <a:rPr lang="zh-CN" altLang="en-US" dirty="0">
                <a:solidFill>
                  <a:srgbClr val="003C5A"/>
                </a:solidFill>
                <a:latin typeface="Arial" panose="020B0604020202020204" pitchFamily="34" charset="0"/>
                <a:cs typeface="Arial" panose="020B0604020202020204" pitchFamily="34" charset="0"/>
              </a:rPr>
              <a:t>   </a:t>
            </a:r>
            <a:r>
              <a:rPr lang="en-US" altLang="zh-CN" dirty="0">
                <a:solidFill>
                  <a:srgbClr val="003C5A"/>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732B146E-4DEA-2F21-3E42-679D1A3B6F8A}"/>
              </a:ext>
            </a:extLst>
          </p:cNvPr>
          <p:cNvSpPr>
            <a:spLocks noGrp="1"/>
          </p:cNvSpPr>
          <p:nvPr>
            <p:ph type="sldNum" sz="quarter" idx="12"/>
          </p:nvPr>
        </p:nvSpPr>
        <p:spPr/>
        <p:txBody>
          <a:bodyPr/>
          <a:lstStyle/>
          <a:p>
            <a:fld id="{F4F8D3FC-E4A1-684A-A978-3E74850AAFB0}" type="slidenum">
              <a:rPr kumimoji="1" lang="zh-CN" altLang="en-US" smtClean="0"/>
              <a:t>7</a:t>
            </a:fld>
            <a:endParaRPr kumimoji="1" lang="zh-CN" altLang="en-US" dirty="0"/>
          </a:p>
        </p:txBody>
      </p:sp>
      <p:grpSp>
        <p:nvGrpSpPr>
          <p:cNvPr id="2" name="Google Shape;136;p23">
            <a:extLst>
              <a:ext uri="{FF2B5EF4-FFF2-40B4-BE49-F238E27FC236}">
                <a16:creationId xmlns:a16="http://schemas.microsoft.com/office/drawing/2014/main" id="{5A46D61B-DC04-ABB5-EDB2-243AFDAE5EB9}"/>
              </a:ext>
            </a:extLst>
          </p:cNvPr>
          <p:cNvGrpSpPr/>
          <p:nvPr/>
        </p:nvGrpSpPr>
        <p:grpSpPr>
          <a:xfrm>
            <a:off x="549597" y="1040169"/>
            <a:ext cx="2414510" cy="475601"/>
            <a:chOff x="188705" y="912146"/>
            <a:chExt cx="2559301" cy="602940"/>
          </a:xfrm>
          <a:solidFill>
            <a:schemeClr val="bg1"/>
          </a:solidFill>
        </p:grpSpPr>
        <p:sp>
          <p:nvSpPr>
            <p:cNvPr id="4" name="Google Shape;137;p23">
              <a:extLst>
                <a:ext uri="{FF2B5EF4-FFF2-40B4-BE49-F238E27FC236}">
                  <a16:creationId xmlns:a16="http://schemas.microsoft.com/office/drawing/2014/main" id="{69B48368-F136-FB83-033E-57BEE9230DD6}"/>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 altLang="zh-CN" sz="2000" b="1" dirty="0">
                  <a:solidFill>
                    <a:schemeClr val="dk1"/>
                  </a:solidFill>
                  <a:latin typeface="Comic Sans MS"/>
                </a:rPr>
                <a:t>Core</a:t>
              </a:r>
              <a:r>
                <a:rPr lang="en" altLang="zh-CN" sz="2000" dirty="0"/>
                <a:t> </a:t>
              </a:r>
              <a:r>
                <a:rPr lang="en" altLang="zh-CN" sz="2000" b="1" dirty="0">
                  <a:solidFill>
                    <a:schemeClr val="dk1"/>
                  </a:solidFill>
                  <a:latin typeface="Comic Sans MS"/>
                </a:rPr>
                <a:t>Mechanism</a:t>
              </a:r>
              <a:endParaRPr sz="2000" b="1" dirty="0">
                <a:solidFill>
                  <a:schemeClr val="dk1"/>
                </a:solidFill>
                <a:latin typeface="Comic Sans MS"/>
                <a:sym typeface="Comic Sans MS"/>
              </a:endParaRPr>
            </a:p>
          </p:txBody>
        </p:sp>
        <p:sp>
          <p:nvSpPr>
            <p:cNvPr id="6" name="Google Shape;138;p23">
              <a:extLst>
                <a:ext uri="{FF2B5EF4-FFF2-40B4-BE49-F238E27FC236}">
                  <a16:creationId xmlns:a16="http://schemas.microsoft.com/office/drawing/2014/main" id="{74D88C51-341A-8378-388F-076A00894927}"/>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pic>
        <p:nvPicPr>
          <p:cNvPr id="9" name="图片 8">
            <a:extLst>
              <a:ext uri="{FF2B5EF4-FFF2-40B4-BE49-F238E27FC236}">
                <a16:creationId xmlns:a16="http://schemas.microsoft.com/office/drawing/2014/main" id="{F3C3F60C-6905-D370-2B4F-47C37ED4DD29}"/>
              </a:ext>
            </a:extLst>
          </p:cNvPr>
          <p:cNvPicPr>
            <a:picLocks noChangeAspect="1"/>
          </p:cNvPicPr>
          <p:nvPr/>
        </p:nvPicPr>
        <p:blipFill>
          <a:blip r:embed="rId3"/>
          <a:stretch>
            <a:fillRect/>
          </a:stretch>
        </p:blipFill>
        <p:spPr>
          <a:xfrm>
            <a:off x="777084" y="1945226"/>
            <a:ext cx="7686626" cy="1755443"/>
          </a:xfrm>
          <a:prstGeom prst="rect">
            <a:avLst/>
          </a:prstGeom>
        </p:spPr>
      </p:pic>
      <p:sp>
        <p:nvSpPr>
          <p:cNvPr id="10" name="文本框 9">
            <a:extLst>
              <a:ext uri="{FF2B5EF4-FFF2-40B4-BE49-F238E27FC236}">
                <a16:creationId xmlns:a16="http://schemas.microsoft.com/office/drawing/2014/main" id="{424CF5BF-1E37-CE8B-CB2D-FF2CE65540BB}"/>
              </a:ext>
            </a:extLst>
          </p:cNvPr>
          <p:cNvSpPr txBox="1"/>
          <p:nvPr/>
        </p:nvSpPr>
        <p:spPr>
          <a:xfrm>
            <a:off x="6613943" y="4101601"/>
            <a:ext cx="6736513" cy="923330"/>
          </a:xfrm>
          <a:prstGeom prst="rect">
            <a:avLst/>
          </a:prstGeom>
          <a:noFill/>
        </p:spPr>
        <p:txBody>
          <a:bodyPr wrap="square">
            <a:spAutoFit/>
          </a:bodyPr>
          <a:lstStyle/>
          <a:p>
            <a:r>
              <a:rPr lang="zh-CN" altLang="en-US" dirty="0"/>
              <a:t>模块分解 ：递归自生成 </a:t>
            </a:r>
            <a:r>
              <a:rPr lang="en-US" altLang="zh-CN" dirty="0"/>
              <a:t>+ </a:t>
            </a:r>
          </a:p>
          <a:p>
            <a:r>
              <a:rPr lang="en-US" altLang="zh-CN" dirty="0"/>
              <a:t>	     </a:t>
            </a:r>
            <a:r>
              <a:rPr lang="zh-CN" altLang="en-US" dirty="0"/>
              <a:t>平衡利用、探索  </a:t>
            </a:r>
            <a:r>
              <a:rPr lang="en-US" altLang="zh-CN" dirty="0"/>
              <a:t>+ </a:t>
            </a:r>
          </a:p>
          <a:p>
            <a:r>
              <a:rPr lang="en-US" altLang="zh-CN" dirty="0"/>
              <a:t>                    </a:t>
            </a:r>
            <a:r>
              <a:rPr lang="zh-CN" altLang="en-US" dirty="0"/>
              <a:t>保真度控制。</a:t>
            </a:r>
          </a:p>
        </p:txBody>
      </p:sp>
      <p:grpSp>
        <p:nvGrpSpPr>
          <p:cNvPr id="14" name="Google Shape;136;p23">
            <a:extLst>
              <a:ext uri="{FF2B5EF4-FFF2-40B4-BE49-F238E27FC236}">
                <a16:creationId xmlns:a16="http://schemas.microsoft.com/office/drawing/2014/main" id="{386A691B-2127-909F-7E63-49FF0F3D7FF5}"/>
              </a:ext>
            </a:extLst>
          </p:cNvPr>
          <p:cNvGrpSpPr/>
          <p:nvPr/>
        </p:nvGrpSpPr>
        <p:grpSpPr>
          <a:xfrm>
            <a:off x="753019" y="5880749"/>
            <a:ext cx="1228405" cy="475601"/>
            <a:chOff x="188705" y="912146"/>
            <a:chExt cx="2559301" cy="602940"/>
          </a:xfrm>
          <a:solidFill>
            <a:schemeClr val="bg1"/>
          </a:solidFill>
        </p:grpSpPr>
        <p:sp>
          <p:nvSpPr>
            <p:cNvPr id="21" name="Google Shape;137;p23">
              <a:extLst>
                <a:ext uri="{FF2B5EF4-FFF2-40B4-BE49-F238E27FC236}">
                  <a16:creationId xmlns:a16="http://schemas.microsoft.com/office/drawing/2014/main" id="{77497B45-30C9-3E80-B651-B3B6E66C381B}"/>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sz="2000" b="1" dirty="0">
                  <a:solidFill>
                    <a:schemeClr val="dk1"/>
                  </a:solidFill>
                  <a:latin typeface="Comic Sans MS"/>
                  <a:ea typeface="Comic Sans MS"/>
                  <a:cs typeface="Comic Sans MS"/>
                  <a:sym typeface="Comic Sans MS"/>
                </a:rPr>
                <a:t>insight</a:t>
              </a:r>
              <a:endParaRPr sz="2000" b="1" dirty="0">
                <a:solidFill>
                  <a:schemeClr val="dk1"/>
                </a:solidFill>
                <a:latin typeface="Comic Sans MS"/>
                <a:ea typeface="Comic Sans MS"/>
                <a:cs typeface="Comic Sans MS"/>
                <a:sym typeface="Comic Sans MS"/>
              </a:endParaRPr>
            </a:p>
          </p:txBody>
        </p:sp>
        <p:sp>
          <p:nvSpPr>
            <p:cNvPr id="22" name="Google Shape;138;p23">
              <a:extLst>
                <a:ext uri="{FF2B5EF4-FFF2-40B4-BE49-F238E27FC236}">
                  <a16:creationId xmlns:a16="http://schemas.microsoft.com/office/drawing/2014/main" id="{CCC002BA-150B-6C41-0155-64BCF945B19F}"/>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23" name="文本框 22">
            <a:extLst>
              <a:ext uri="{FF2B5EF4-FFF2-40B4-BE49-F238E27FC236}">
                <a16:creationId xmlns:a16="http://schemas.microsoft.com/office/drawing/2014/main" id="{7D30B5AC-BB6A-8FA8-3564-CDD280013944}"/>
              </a:ext>
            </a:extLst>
          </p:cNvPr>
          <p:cNvSpPr txBox="1"/>
          <p:nvPr/>
        </p:nvSpPr>
        <p:spPr>
          <a:xfrm>
            <a:off x="2465936" y="5817831"/>
            <a:ext cx="5030388"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t>迭代提升性能</a:t>
            </a:r>
            <a:endParaRPr lang="en-US" altLang="zh-CN" dirty="0"/>
          </a:p>
          <a:p>
            <a:pPr marL="285750" indent="-285750">
              <a:buFont typeface="Arial" panose="020B0604020202020204" pitchFamily="34" charset="0"/>
              <a:buChar char="•"/>
            </a:pPr>
            <a:r>
              <a:rPr lang="zh-CN" altLang="en-US" dirty="0"/>
              <a:t>需要对生成的数据加约束</a:t>
            </a:r>
          </a:p>
        </p:txBody>
      </p:sp>
      <p:pic>
        <p:nvPicPr>
          <p:cNvPr id="12" name="图片 11">
            <a:extLst>
              <a:ext uri="{FF2B5EF4-FFF2-40B4-BE49-F238E27FC236}">
                <a16:creationId xmlns:a16="http://schemas.microsoft.com/office/drawing/2014/main" id="{2ED83B61-616A-BD30-2F29-47727E491150}"/>
              </a:ext>
            </a:extLst>
          </p:cNvPr>
          <p:cNvPicPr>
            <a:picLocks noChangeAspect="1"/>
          </p:cNvPicPr>
          <p:nvPr/>
        </p:nvPicPr>
        <p:blipFill>
          <a:blip r:embed="rId4"/>
          <a:stretch>
            <a:fillRect/>
          </a:stretch>
        </p:blipFill>
        <p:spPr>
          <a:xfrm>
            <a:off x="834958" y="3725998"/>
            <a:ext cx="4386140" cy="1940023"/>
          </a:xfrm>
          <a:prstGeom prst="rect">
            <a:avLst/>
          </a:prstGeom>
        </p:spPr>
      </p:pic>
    </p:spTree>
    <p:extLst>
      <p:ext uri="{BB962C8B-B14F-4D97-AF65-F5344CB8AC3E}">
        <p14:creationId xmlns:p14="http://schemas.microsoft.com/office/powerpoint/2010/main" val="40797059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D384E-5267-53A4-7169-4FEEBC47E9BC}"/>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5CA16EA6-2B69-A59E-E01F-9A3ADF5F4F6B}"/>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6260C2D2-D70E-2DC3-3EE9-D435BFB66595}"/>
              </a:ext>
            </a:extLst>
          </p:cNvPr>
          <p:cNvSpPr>
            <a:spLocks noGrp="1"/>
          </p:cNvSpPr>
          <p:nvPr>
            <p:ph idx="1"/>
          </p:nvPr>
        </p:nvSpPr>
        <p:spPr>
          <a:xfrm>
            <a:off x="787358" y="2023613"/>
            <a:ext cx="8737600" cy="1405387"/>
          </a:xfrm>
        </p:spPr>
        <p:txBody>
          <a:bodyPr>
            <a:normAutofit/>
          </a:bodyPr>
          <a:lstStyle/>
          <a:p>
            <a:r>
              <a:rPr lang="zh-CN" altLang="en-US" sz="1800" dirty="0"/>
              <a:t>数据过于稀疏导致冷启动</a:t>
            </a:r>
            <a:endParaRPr lang="en-US" altLang="zh-CN" sz="1800" dirty="0"/>
          </a:p>
          <a:p>
            <a:r>
              <a:rPr lang="zh-CN" altLang="en-US" sz="1800" dirty="0"/>
              <a:t>数据生成可能集中到模型偏好的转移范式中</a:t>
            </a:r>
            <a:endParaRPr lang="en-US" altLang="zh-CN" sz="1800" dirty="0"/>
          </a:p>
          <a:p>
            <a:r>
              <a:rPr lang="zh-CN" altLang="en-US" sz="1800" dirty="0"/>
              <a:t>在进行精确控制的时候如何选取合适的</a:t>
            </a:r>
            <a:r>
              <a:rPr lang="en-US" altLang="zh-CN" sz="1800" dirty="0"/>
              <a:t>t</a:t>
            </a:r>
          </a:p>
        </p:txBody>
      </p:sp>
      <p:sp>
        <p:nvSpPr>
          <p:cNvPr id="17" name="圆角矩形 16">
            <a:extLst>
              <a:ext uri="{FF2B5EF4-FFF2-40B4-BE49-F238E27FC236}">
                <a16:creationId xmlns:a16="http://schemas.microsoft.com/office/drawing/2014/main" id="{19177BF8-1F98-EA21-60F0-2100020C5EB5}"/>
              </a:ext>
            </a:extLst>
          </p:cNvPr>
          <p:cNvSpPr/>
          <p:nvPr/>
        </p:nvSpPr>
        <p:spPr>
          <a:xfrm>
            <a:off x="3202704" y="266993"/>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D396A2B7-1151-4EB7-2D84-12DD137EA8DC}"/>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A52CC61E-8DA4-7A40-8E83-58227E56B694}"/>
              </a:ext>
            </a:extLst>
          </p:cNvPr>
          <p:cNvSpPr txBox="1"/>
          <p:nvPr/>
        </p:nvSpPr>
        <p:spPr>
          <a:xfrm>
            <a:off x="1864255" y="298185"/>
            <a:ext cx="4225152" cy="369332"/>
          </a:xfrm>
          <a:prstGeom prst="rect">
            <a:avLst/>
          </a:prstGeom>
          <a:noFill/>
        </p:spPr>
        <p:txBody>
          <a:bodyPr wrap="square">
            <a:spAutoFit/>
          </a:bodyPr>
          <a:lstStyle/>
          <a:p>
            <a:r>
              <a:rPr lang="en" altLang="zh-CN" dirty="0">
                <a:solidFill>
                  <a:schemeClr val="bg1"/>
                </a:solidFill>
                <a:latin typeface="Arial" panose="020B0604020202020204" pitchFamily="34" charset="0"/>
                <a:cs typeface="Arial" panose="020B0604020202020204" pitchFamily="34" charset="0"/>
              </a:rPr>
              <a:t> I: DR4RS     </a:t>
            </a:r>
            <a:r>
              <a:rPr lang="en" altLang="zh-CN" dirty="0">
                <a:solidFill>
                  <a:srgbClr val="003C5A"/>
                </a:solidFill>
                <a:latin typeface="Arial" panose="020B0604020202020204" pitchFamily="34" charset="0"/>
                <a:cs typeface="Arial" panose="020B0604020202020204" pitchFamily="34" charset="0"/>
              </a:rPr>
              <a:t>     II: RSIR  </a:t>
            </a:r>
            <a:r>
              <a:rPr lang="zh-CN" altLang="en-US" dirty="0">
                <a:solidFill>
                  <a:srgbClr val="003C5A"/>
                </a:solidFill>
                <a:latin typeface="Arial" panose="020B0604020202020204" pitchFamily="34" charset="0"/>
                <a:cs typeface="Arial" panose="020B0604020202020204" pitchFamily="34" charset="0"/>
              </a:rPr>
              <a:t>   </a:t>
            </a:r>
            <a:r>
              <a:rPr lang="en-US" altLang="zh-CN" dirty="0">
                <a:solidFill>
                  <a:srgbClr val="003C5A"/>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III :Simula  </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8C2D35E0-4639-87E5-CC65-27B251879C3E}"/>
              </a:ext>
            </a:extLst>
          </p:cNvPr>
          <p:cNvSpPr>
            <a:spLocks noGrp="1"/>
          </p:cNvSpPr>
          <p:nvPr>
            <p:ph type="sldNum" sz="quarter" idx="12"/>
          </p:nvPr>
        </p:nvSpPr>
        <p:spPr/>
        <p:txBody>
          <a:bodyPr/>
          <a:lstStyle/>
          <a:p>
            <a:fld id="{F4F8D3FC-E4A1-684A-A978-3E74850AAFB0}" type="slidenum">
              <a:rPr kumimoji="1" lang="zh-CN" altLang="en-US" smtClean="0"/>
              <a:t>8</a:t>
            </a:fld>
            <a:endParaRPr kumimoji="1" lang="zh-CN" altLang="en-US" dirty="0"/>
          </a:p>
        </p:txBody>
      </p:sp>
      <p:grpSp>
        <p:nvGrpSpPr>
          <p:cNvPr id="2" name="Google Shape;136;p23">
            <a:extLst>
              <a:ext uri="{FF2B5EF4-FFF2-40B4-BE49-F238E27FC236}">
                <a16:creationId xmlns:a16="http://schemas.microsoft.com/office/drawing/2014/main" id="{C750B8AC-1702-F1FF-F4CE-F6BAB4BB5EE2}"/>
              </a:ext>
            </a:extLst>
          </p:cNvPr>
          <p:cNvGrpSpPr/>
          <p:nvPr/>
        </p:nvGrpSpPr>
        <p:grpSpPr>
          <a:xfrm>
            <a:off x="559871" y="1399765"/>
            <a:ext cx="1405467" cy="475601"/>
            <a:chOff x="188705" y="912146"/>
            <a:chExt cx="2559301" cy="602940"/>
          </a:xfrm>
          <a:solidFill>
            <a:schemeClr val="bg1"/>
          </a:solidFill>
        </p:grpSpPr>
        <p:sp>
          <p:nvSpPr>
            <p:cNvPr id="4" name="Google Shape;137;p23">
              <a:extLst>
                <a:ext uri="{FF2B5EF4-FFF2-40B4-BE49-F238E27FC236}">
                  <a16:creationId xmlns:a16="http://schemas.microsoft.com/office/drawing/2014/main" id="{CC3957B8-9EC7-C18F-A82A-CD28F7002EAC}"/>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US" altLang="zh-CN" sz="2000" b="1" dirty="0">
                  <a:solidFill>
                    <a:schemeClr val="dk1"/>
                  </a:solidFill>
                  <a:latin typeface="Comic Sans MS"/>
                  <a:sym typeface="Comic Sans MS"/>
                </a:rPr>
                <a:t>Problem</a:t>
              </a:r>
              <a:endParaRPr sz="2000" b="1" dirty="0">
                <a:solidFill>
                  <a:schemeClr val="dk1"/>
                </a:solidFill>
                <a:latin typeface="Comic Sans MS"/>
                <a:sym typeface="Comic Sans MS"/>
              </a:endParaRPr>
            </a:p>
          </p:txBody>
        </p:sp>
        <p:sp>
          <p:nvSpPr>
            <p:cNvPr id="6" name="Google Shape;138;p23">
              <a:extLst>
                <a:ext uri="{FF2B5EF4-FFF2-40B4-BE49-F238E27FC236}">
                  <a16:creationId xmlns:a16="http://schemas.microsoft.com/office/drawing/2014/main" id="{BDD6C0B5-274E-E61E-B238-22C3C23FBEA7}"/>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pic>
        <p:nvPicPr>
          <p:cNvPr id="9" name="图片 8">
            <a:extLst>
              <a:ext uri="{FF2B5EF4-FFF2-40B4-BE49-F238E27FC236}">
                <a16:creationId xmlns:a16="http://schemas.microsoft.com/office/drawing/2014/main" id="{32DC2FBA-EDAB-4461-8073-819C6B02D2B8}"/>
              </a:ext>
            </a:extLst>
          </p:cNvPr>
          <p:cNvPicPr>
            <a:picLocks noChangeAspect="1"/>
          </p:cNvPicPr>
          <p:nvPr/>
        </p:nvPicPr>
        <p:blipFill>
          <a:blip r:embed="rId3"/>
          <a:stretch>
            <a:fillRect/>
          </a:stretch>
        </p:blipFill>
        <p:spPr>
          <a:xfrm>
            <a:off x="519502" y="3603120"/>
            <a:ext cx="9273312" cy="2117805"/>
          </a:xfrm>
          <a:prstGeom prst="rect">
            <a:avLst/>
          </a:prstGeom>
        </p:spPr>
      </p:pic>
      <p:pic>
        <p:nvPicPr>
          <p:cNvPr id="10" name="图片 9">
            <a:extLst>
              <a:ext uri="{FF2B5EF4-FFF2-40B4-BE49-F238E27FC236}">
                <a16:creationId xmlns:a16="http://schemas.microsoft.com/office/drawing/2014/main" id="{EBC19ECF-67A0-42EA-A2C7-35BB4311EEA9}"/>
              </a:ext>
            </a:extLst>
          </p:cNvPr>
          <p:cNvPicPr>
            <a:picLocks noChangeAspect="1"/>
          </p:cNvPicPr>
          <p:nvPr/>
        </p:nvPicPr>
        <p:blipFill>
          <a:blip r:embed="rId4"/>
          <a:stretch>
            <a:fillRect/>
          </a:stretch>
        </p:blipFill>
        <p:spPr>
          <a:xfrm>
            <a:off x="6772770" y="1488977"/>
            <a:ext cx="4386140" cy="1940023"/>
          </a:xfrm>
          <a:prstGeom prst="rect">
            <a:avLst/>
          </a:prstGeom>
        </p:spPr>
      </p:pic>
    </p:spTree>
    <p:extLst>
      <p:ext uri="{BB962C8B-B14F-4D97-AF65-F5344CB8AC3E}">
        <p14:creationId xmlns:p14="http://schemas.microsoft.com/office/powerpoint/2010/main" val="145583748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C12F2-2713-FC6C-9E6C-64D9949D2346}"/>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B8015886-C9E6-B7EA-06A2-DD9E3A4FA542}"/>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5AD14DBB-B36F-180E-F4E4-00088444F031}"/>
              </a:ext>
            </a:extLst>
          </p:cNvPr>
          <p:cNvSpPr>
            <a:spLocks noGrp="1"/>
          </p:cNvSpPr>
          <p:nvPr>
            <p:ph idx="1"/>
          </p:nvPr>
        </p:nvSpPr>
        <p:spPr>
          <a:xfrm>
            <a:off x="834958" y="1905000"/>
            <a:ext cx="8737600" cy="1149965"/>
          </a:xfrm>
        </p:spPr>
        <p:txBody>
          <a:bodyPr>
            <a:normAutofit/>
          </a:bodyPr>
          <a:lstStyle/>
          <a:p>
            <a:r>
              <a:rPr lang="zh-CN" altLang="en-US" sz="2000" dirty="0"/>
              <a:t>众多领域</a:t>
            </a:r>
            <a:endParaRPr lang="en-US" altLang="zh-CN" sz="2000" dirty="0"/>
          </a:p>
          <a:p>
            <a:r>
              <a:rPr lang="zh-CN" altLang="en-US" sz="2000" dirty="0"/>
              <a:t>数据稀疏，人工标注成本高昂，开发者们倾向于使用合成数据</a:t>
            </a:r>
            <a:endParaRPr lang="en-US" altLang="zh-CN" sz="2000" dirty="0"/>
          </a:p>
        </p:txBody>
      </p:sp>
      <p:grpSp>
        <p:nvGrpSpPr>
          <p:cNvPr id="11" name="Google Shape;136;p23">
            <a:extLst>
              <a:ext uri="{FF2B5EF4-FFF2-40B4-BE49-F238E27FC236}">
                <a16:creationId xmlns:a16="http://schemas.microsoft.com/office/drawing/2014/main" id="{DB3A90EE-FF71-5308-7CAE-320A92A557B8}"/>
              </a:ext>
            </a:extLst>
          </p:cNvPr>
          <p:cNvGrpSpPr/>
          <p:nvPr/>
        </p:nvGrpSpPr>
        <p:grpSpPr>
          <a:xfrm>
            <a:off x="607470" y="1281152"/>
            <a:ext cx="2552419" cy="475601"/>
            <a:chOff x="188705" y="912146"/>
            <a:chExt cx="2559301" cy="602940"/>
          </a:xfrm>
          <a:solidFill>
            <a:schemeClr val="bg1"/>
          </a:solidFill>
        </p:grpSpPr>
        <p:sp>
          <p:nvSpPr>
            <p:cNvPr id="12" name="Google Shape;137;p23">
              <a:extLst>
                <a:ext uri="{FF2B5EF4-FFF2-40B4-BE49-F238E27FC236}">
                  <a16:creationId xmlns:a16="http://schemas.microsoft.com/office/drawing/2014/main" id="{1BCEE1A1-EF7A-AB28-D7DC-6B55949FC195}"/>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2000" b="1" dirty="0">
                  <a:solidFill>
                    <a:schemeClr val="dk1"/>
                  </a:solidFill>
                  <a:latin typeface="Comic Sans MS"/>
                  <a:ea typeface="Comic Sans MS"/>
                  <a:cs typeface="Comic Sans MS"/>
                  <a:sym typeface="Comic Sans MS"/>
                </a:rPr>
                <a:t>Problem</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Definition</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592FDDB4-0F8C-253E-DB7C-1DD5173FE78A}"/>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9FCC720F-B9E1-1FC7-37E7-9A05996B680F}"/>
              </a:ext>
            </a:extLst>
          </p:cNvPr>
          <p:cNvSpPr/>
          <p:nvPr/>
        </p:nvSpPr>
        <p:spPr>
          <a:xfrm>
            <a:off x="4681561" y="278462"/>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48C633D5-41CB-FCF9-D34B-CBB8D3DA4F9C}"/>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674E8517-E657-E51B-650B-F68229A0B7C1}"/>
              </a:ext>
            </a:extLst>
          </p:cNvPr>
          <p:cNvSpPr txBox="1"/>
          <p:nvPr/>
        </p:nvSpPr>
        <p:spPr>
          <a:xfrm>
            <a:off x="1883679" y="317907"/>
            <a:ext cx="4225152" cy="369332"/>
          </a:xfrm>
          <a:prstGeom prst="rect">
            <a:avLst/>
          </a:prstGeom>
          <a:noFill/>
        </p:spPr>
        <p:txBody>
          <a:bodyPr wrap="square">
            <a:spAutoFit/>
          </a:bodyPr>
          <a:lstStyle/>
          <a:p>
            <a:r>
              <a:rPr lang="en" altLang="zh-CN" dirty="0">
                <a:solidFill>
                  <a:schemeClr val="bg1"/>
                </a:solidFill>
                <a:latin typeface="Arial" panose="020B0604020202020204" pitchFamily="34" charset="0"/>
                <a:cs typeface="Arial" panose="020B0604020202020204" pitchFamily="34" charset="0"/>
              </a:rPr>
              <a:t> I: DR4RS          II: RSIR  </a:t>
            </a:r>
            <a:r>
              <a:rPr lang="zh-CN" altLang="en-US" dirty="0">
                <a:solidFill>
                  <a:schemeClr val="bg1"/>
                </a:solidFill>
                <a:latin typeface="Arial" panose="020B0604020202020204" pitchFamily="34" charset="0"/>
                <a:cs typeface="Arial" panose="020B0604020202020204" pitchFamily="34" charset="0"/>
              </a:rPr>
              <a:t>   </a:t>
            </a:r>
            <a:r>
              <a:rPr lang="en-US" altLang="zh-CN" dirty="0">
                <a:solidFill>
                  <a:schemeClr val="bg1"/>
                </a:solidFill>
                <a:latin typeface="Arial" panose="020B0604020202020204" pitchFamily="34" charset="0"/>
                <a:cs typeface="Arial" panose="020B0604020202020204" pitchFamily="34" charset="0"/>
              </a:rPr>
              <a:t>  </a:t>
            </a:r>
            <a:r>
              <a:rPr lang="en" altLang="zh-CN" dirty="0">
                <a:solidFill>
                  <a:srgbClr val="003C5A"/>
                </a:solidFill>
                <a:latin typeface="Arial" panose="020B0604020202020204" pitchFamily="34" charset="0"/>
                <a:cs typeface="Arial" panose="020B0604020202020204" pitchFamily="34" charset="0"/>
              </a:rPr>
              <a:t>III :Simula  </a:t>
            </a:r>
            <a:endParaRPr lang="zh-CN" altLang="en-US" dirty="0">
              <a:solidFill>
                <a:srgbClr val="003C5A"/>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32913D54-2A0A-43EC-AC4A-4A3286C16649}"/>
              </a:ext>
            </a:extLst>
          </p:cNvPr>
          <p:cNvSpPr>
            <a:spLocks noGrp="1"/>
          </p:cNvSpPr>
          <p:nvPr>
            <p:ph type="sldNum" sz="quarter" idx="12"/>
          </p:nvPr>
        </p:nvSpPr>
        <p:spPr/>
        <p:txBody>
          <a:bodyPr/>
          <a:lstStyle/>
          <a:p>
            <a:fld id="{F4F8D3FC-E4A1-684A-A978-3E74850AAFB0}" type="slidenum">
              <a:rPr kumimoji="1" lang="zh-CN" altLang="en-US" smtClean="0"/>
              <a:t>9</a:t>
            </a:fld>
            <a:endParaRPr kumimoji="1" lang="zh-CN" altLang="en-US" dirty="0"/>
          </a:p>
        </p:txBody>
      </p:sp>
      <p:grpSp>
        <p:nvGrpSpPr>
          <p:cNvPr id="16" name="Google Shape;136;p23">
            <a:extLst>
              <a:ext uri="{FF2B5EF4-FFF2-40B4-BE49-F238E27FC236}">
                <a16:creationId xmlns:a16="http://schemas.microsoft.com/office/drawing/2014/main" id="{C809D9C3-1E59-C024-6BEA-09BEE335B82A}"/>
              </a:ext>
            </a:extLst>
          </p:cNvPr>
          <p:cNvGrpSpPr/>
          <p:nvPr/>
        </p:nvGrpSpPr>
        <p:grpSpPr>
          <a:xfrm>
            <a:off x="607470" y="3088732"/>
            <a:ext cx="1568571" cy="475601"/>
            <a:chOff x="188705" y="912146"/>
            <a:chExt cx="2559301" cy="602940"/>
          </a:xfrm>
          <a:solidFill>
            <a:schemeClr val="bg1"/>
          </a:solidFill>
        </p:grpSpPr>
        <p:sp>
          <p:nvSpPr>
            <p:cNvPr id="18" name="Google Shape;137;p23">
              <a:extLst>
                <a:ext uri="{FF2B5EF4-FFF2-40B4-BE49-F238E27FC236}">
                  <a16:creationId xmlns:a16="http://schemas.microsoft.com/office/drawing/2014/main" id="{E1C3984A-9A4E-D525-8EF8-CE41D463FC26}"/>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altLang="zh-CN" sz="2000" b="1" dirty="0">
                  <a:solidFill>
                    <a:schemeClr val="dk1"/>
                  </a:solidFill>
                  <a:latin typeface="Comic Sans MS"/>
                  <a:ea typeface="Comic Sans MS"/>
                  <a:cs typeface="Comic Sans MS"/>
                  <a:sym typeface="Comic Sans MS"/>
                </a:rPr>
                <a:t>Motivation</a:t>
              </a:r>
              <a:endParaRPr sz="2000" b="1" dirty="0">
                <a:solidFill>
                  <a:schemeClr val="dk1"/>
                </a:solidFill>
                <a:latin typeface="Comic Sans MS"/>
                <a:ea typeface="Comic Sans MS"/>
                <a:cs typeface="Comic Sans MS"/>
                <a:sym typeface="Comic Sans MS"/>
              </a:endParaRPr>
            </a:p>
          </p:txBody>
        </p:sp>
        <p:sp>
          <p:nvSpPr>
            <p:cNvPr id="20" name="Google Shape;138;p23">
              <a:extLst>
                <a:ext uri="{FF2B5EF4-FFF2-40B4-BE49-F238E27FC236}">
                  <a16:creationId xmlns:a16="http://schemas.microsoft.com/office/drawing/2014/main" id="{B16502F2-A04A-932C-150A-7C074B8B5C13}"/>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2" name="内容占位符 2">
            <a:extLst>
              <a:ext uri="{FF2B5EF4-FFF2-40B4-BE49-F238E27FC236}">
                <a16:creationId xmlns:a16="http://schemas.microsoft.com/office/drawing/2014/main" id="{3096A022-00B8-3C5E-FB1D-05DF6E9E2CB6}"/>
              </a:ext>
            </a:extLst>
          </p:cNvPr>
          <p:cNvSpPr txBox="1">
            <a:spLocks/>
          </p:cNvSpPr>
          <p:nvPr/>
        </p:nvSpPr>
        <p:spPr>
          <a:xfrm>
            <a:off x="745748" y="3848480"/>
            <a:ext cx="8737600" cy="20956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900" b="1" dirty="0"/>
              <a:t>Gap</a:t>
            </a:r>
            <a:r>
              <a:rPr lang="zh-CN" altLang="en-US" sz="2200" dirty="0"/>
              <a:t> ： </a:t>
            </a:r>
            <a:endParaRPr lang="en-US" altLang="zh-CN" sz="2200" dirty="0"/>
          </a:p>
          <a:p>
            <a:pPr lvl="1"/>
            <a:r>
              <a:rPr lang="zh-CN" altLang="en-US" sz="2000" dirty="0"/>
              <a:t>手动提示 、进化算法、来自目标分布的大规模种子数据</a:t>
            </a:r>
          </a:p>
          <a:p>
            <a:pPr lvl="1"/>
            <a:r>
              <a:rPr lang="zh-CN" altLang="en-US" sz="2000" dirty="0"/>
              <a:t>限制可扩展性、可解释性和可控性</a:t>
            </a:r>
            <a:endParaRPr lang="en-US" altLang="zh-CN" sz="2000" dirty="0"/>
          </a:p>
          <a:p>
            <a:r>
              <a:rPr lang="zh-CN" altLang="en-US" sz="2000" dirty="0"/>
              <a:t>采用无种子、智能体的方式，生成可解释、可控的数据集</a:t>
            </a:r>
            <a:endParaRPr lang="zh-CN" altLang="en-US" sz="2400" dirty="0"/>
          </a:p>
        </p:txBody>
      </p:sp>
    </p:spTree>
    <p:extLst>
      <p:ext uri="{BB962C8B-B14F-4D97-AF65-F5344CB8AC3E}">
        <p14:creationId xmlns:p14="http://schemas.microsoft.com/office/powerpoint/2010/main" val="18216253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9EFBD-9C7B-D6EA-388F-4F9A0C10B62A}"/>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997F049A-4084-1519-A9DA-FB37060FD31C}"/>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17" name="圆角矩形 16">
            <a:extLst>
              <a:ext uri="{FF2B5EF4-FFF2-40B4-BE49-F238E27FC236}">
                <a16:creationId xmlns:a16="http://schemas.microsoft.com/office/drawing/2014/main" id="{300F3927-1CA2-3DF1-3727-98693F8034CE}"/>
              </a:ext>
            </a:extLst>
          </p:cNvPr>
          <p:cNvSpPr/>
          <p:nvPr/>
        </p:nvSpPr>
        <p:spPr>
          <a:xfrm>
            <a:off x="4681561" y="278462"/>
            <a:ext cx="1548254"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FE0E222B-92DE-197B-026F-3805543275AC}"/>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Paper</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1B8D25CB-B15A-D75A-3526-36719321F99C}"/>
              </a:ext>
            </a:extLst>
          </p:cNvPr>
          <p:cNvSpPr txBox="1"/>
          <p:nvPr/>
        </p:nvSpPr>
        <p:spPr>
          <a:xfrm>
            <a:off x="1883679" y="317907"/>
            <a:ext cx="4225152" cy="369332"/>
          </a:xfrm>
          <a:prstGeom prst="rect">
            <a:avLst/>
          </a:prstGeom>
          <a:noFill/>
        </p:spPr>
        <p:txBody>
          <a:bodyPr wrap="square">
            <a:spAutoFit/>
          </a:bodyPr>
          <a:lstStyle/>
          <a:p>
            <a:r>
              <a:rPr lang="en" altLang="zh-CN" dirty="0">
                <a:solidFill>
                  <a:schemeClr val="bg1"/>
                </a:solidFill>
                <a:latin typeface="Arial" panose="020B0604020202020204" pitchFamily="34" charset="0"/>
                <a:cs typeface="Arial" panose="020B0604020202020204" pitchFamily="34" charset="0"/>
              </a:rPr>
              <a:t> I: DR4RS          II: RSIR  </a:t>
            </a:r>
            <a:r>
              <a:rPr lang="zh-CN" altLang="en-US" dirty="0">
                <a:solidFill>
                  <a:schemeClr val="bg1"/>
                </a:solidFill>
                <a:latin typeface="Arial" panose="020B0604020202020204" pitchFamily="34" charset="0"/>
                <a:cs typeface="Arial" panose="020B0604020202020204" pitchFamily="34" charset="0"/>
              </a:rPr>
              <a:t>   </a:t>
            </a:r>
            <a:r>
              <a:rPr lang="en-US" altLang="zh-CN" dirty="0">
                <a:solidFill>
                  <a:schemeClr val="bg1"/>
                </a:solidFill>
                <a:latin typeface="Arial" panose="020B0604020202020204" pitchFamily="34" charset="0"/>
                <a:cs typeface="Arial" panose="020B0604020202020204" pitchFamily="34" charset="0"/>
              </a:rPr>
              <a:t>  </a:t>
            </a:r>
            <a:r>
              <a:rPr lang="en" altLang="zh-CN" dirty="0">
                <a:solidFill>
                  <a:srgbClr val="003C5A"/>
                </a:solidFill>
                <a:latin typeface="Arial" panose="020B0604020202020204" pitchFamily="34" charset="0"/>
                <a:cs typeface="Arial" panose="020B0604020202020204" pitchFamily="34" charset="0"/>
              </a:rPr>
              <a:t>III :Simula  </a:t>
            </a:r>
            <a:endParaRPr lang="zh-CN" altLang="en-US" dirty="0">
              <a:solidFill>
                <a:srgbClr val="003C5A"/>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0A679E55-A7B7-62F2-A4D6-391786CAE5D5}"/>
              </a:ext>
            </a:extLst>
          </p:cNvPr>
          <p:cNvSpPr>
            <a:spLocks noGrp="1"/>
          </p:cNvSpPr>
          <p:nvPr>
            <p:ph type="sldNum" sz="quarter" idx="12"/>
          </p:nvPr>
        </p:nvSpPr>
        <p:spPr/>
        <p:txBody>
          <a:bodyPr/>
          <a:lstStyle/>
          <a:p>
            <a:fld id="{F4F8D3FC-E4A1-684A-A978-3E74850AAFB0}" type="slidenum">
              <a:rPr kumimoji="1" lang="zh-CN" altLang="en-US" smtClean="0"/>
              <a:t>10</a:t>
            </a:fld>
            <a:endParaRPr kumimoji="1" lang="zh-CN" altLang="en-US" dirty="0"/>
          </a:p>
        </p:txBody>
      </p:sp>
      <p:grpSp>
        <p:nvGrpSpPr>
          <p:cNvPr id="4" name="Google Shape;136;p23">
            <a:extLst>
              <a:ext uri="{FF2B5EF4-FFF2-40B4-BE49-F238E27FC236}">
                <a16:creationId xmlns:a16="http://schemas.microsoft.com/office/drawing/2014/main" id="{A6D9BC46-F40B-BB34-8445-C9B9B1F0C0D2}"/>
              </a:ext>
            </a:extLst>
          </p:cNvPr>
          <p:cNvGrpSpPr/>
          <p:nvPr/>
        </p:nvGrpSpPr>
        <p:grpSpPr>
          <a:xfrm>
            <a:off x="607471" y="1281152"/>
            <a:ext cx="1700831" cy="475601"/>
            <a:chOff x="188705" y="912146"/>
            <a:chExt cx="2559301" cy="602940"/>
          </a:xfrm>
          <a:solidFill>
            <a:schemeClr val="bg1"/>
          </a:solidFill>
        </p:grpSpPr>
        <p:sp>
          <p:nvSpPr>
            <p:cNvPr id="6" name="Google Shape;137;p23">
              <a:extLst>
                <a:ext uri="{FF2B5EF4-FFF2-40B4-BE49-F238E27FC236}">
                  <a16:creationId xmlns:a16="http://schemas.microsoft.com/office/drawing/2014/main" id="{5942CF64-641B-9257-BA48-B5F56AC42E41}"/>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 sz="2000" b="1" dirty="0">
                  <a:solidFill>
                    <a:schemeClr val="dk1"/>
                  </a:solidFill>
                  <a:latin typeface="Comic Sans MS"/>
                  <a:sym typeface="Comic Sans MS"/>
                </a:rPr>
                <a:t>pipeline</a:t>
              </a:r>
              <a:endParaRPr sz="2000" b="1" dirty="0">
                <a:solidFill>
                  <a:schemeClr val="dk1"/>
                </a:solidFill>
                <a:latin typeface="Comic Sans MS"/>
                <a:sym typeface="Comic Sans MS"/>
              </a:endParaRPr>
            </a:p>
          </p:txBody>
        </p:sp>
        <p:sp>
          <p:nvSpPr>
            <p:cNvPr id="9" name="Google Shape;138;p23">
              <a:extLst>
                <a:ext uri="{FF2B5EF4-FFF2-40B4-BE49-F238E27FC236}">
                  <a16:creationId xmlns:a16="http://schemas.microsoft.com/office/drawing/2014/main" id="{5390F865-3C65-D8E4-4B60-A612E9E36249}"/>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0" name="文本框 9">
            <a:extLst>
              <a:ext uri="{FF2B5EF4-FFF2-40B4-BE49-F238E27FC236}">
                <a16:creationId xmlns:a16="http://schemas.microsoft.com/office/drawing/2014/main" id="{8A419B85-174F-D47F-F1D3-1A4FAEEBA67D}"/>
              </a:ext>
            </a:extLst>
          </p:cNvPr>
          <p:cNvSpPr txBox="1"/>
          <p:nvPr/>
        </p:nvSpPr>
        <p:spPr>
          <a:xfrm>
            <a:off x="8518003" y="3366168"/>
            <a:ext cx="4198705" cy="369332"/>
          </a:xfrm>
          <a:prstGeom prst="rect">
            <a:avLst/>
          </a:prstGeom>
          <a:noFill/>
        </p:spPr>
        <p:txBody>
          <a:bodyPr wrap="square">
            <a:spAutoFit/>
          </a:bodyPr>
          <a:lstStyle/>
          <a:p>
            <a:r>
              <a:rPr lang="zh-CN" altLang="en-US" dirty="0"/>
              <a:t>模块分解 ：模式覆盖 </a:t>
            </a:r>
            <a:r>
              <a:rPr lang="en-US" altLang="zh-CN" dirty="0"/>
              <a:t>+</a:t>
            </a:r>
            <a:r>
              <a:rPr lang="zh-CN" altLang="en-US" dirty="0"/>
              <a:t> 可控生成</a:t>
            </a:r>
          </a:p>
        </p:txBody>
      </p:sp>
      <p:pic>
        <p:nvPicPr>
          <p:cNvPr id="25" name="图片 24">
            <a:extLst>
              <a:ext uri="{FF2B5EF4-FFF2-40B4-BE49-F238E27FC236}">
                <a16:creationId xmlns:a16="http://schemas.microsoft.com/office/drawing/2014/main" id="{B6E79D2D-9054-7416-57E9-E8CA7B07AFB6}"/>
              </a:ext>
            </a:extLst>
          </p:cNvPr>
          <p:cNvPicPr>
            <a:picLocks noChangeAspect="1"/>
          </p:cNvPicPr>
          <p:nvPr/>
        </p:nvPicPr>
        <p:blipFill>
          <a:blip r:embed="rId3"/>
          <a:srcRect t="4125"/>
          <a:stretch>
            <a:fillRect/>
          </a:stretch>
        </p:blipFill>
        <p:spPr>
          <a:xfrm>
            <a:off x="859904" y="1964110"/>
            <a:ext cx="7658099" cy="3514815"/>
          </a:xfrm>
          <a:prstGeom prst="rect">
            <a:avLst/>
          </a:prstGeom>
        </p:spPr>
      </p:pic>
      <p:grpSp>
        <p:nvGrpSpPr>
          <p:cNvPr id="26" name="Google Shape;136;p23">
            <a:extLst>
              <a:ext uri="{FF2B5EF4-FFF2-40B4-BE49-F238E27FC236}">
                <a16:creationId xmlns:a16="http://schemas.microsoft.com/office/drawing/2014/main" id="{7C9EE363-0A47-7D48-66B6-3F81D33242D7}"/>
              </a:ext>
            </a:extLst>
          </p:cNvPr>
          <p:cNvGrpSpPr/>
          <p:nvPr/>
        </p:nvGrpSpPr>
        <p:grpSpPr>
          <a:xfrm>
            <a:off x="607471" y="5576848"/>
            <a:ext cx="1228405" cy="475601"/>
            <a:chOff x="188705" y="912146"/>
            <a:chExt cx="2559301" cy="602940"/>
          </a:xfrm>
          <a:solidFill>
            <a:schemeClr val="bg1"/>
          </a:solidFill>
        </p:grpSpPr>
        <p:sp>
          <p:nvSpPr>
            <p:cNvPr id="27" name="Google Shape;137;p23">
              <a:extLst>
                <a:ext uri="{FF2B5EF4-FFF2-40B4-BE49-F238E27FC236}">
                  <a16:creationId xmlns:a16="http://schemas.microsoft.com/office/drawing/2014/main" id="{9E05CDF8-A45B-5A9C-BE21-5F0AF23FE532}"/>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US" sz="2000" b="1" dirty="0">
                  <a:solidFill>
                    <a:schemeClr val="dk1"/>
                  </a:solidFill>
                  <a:latin typeface="Comic Sans MS"/>
                  <a:ea typeface="Comic Sans MS"/>
                  <a:cs typeface="Comic Sans MS"/>
                  <a:sym typeface="Comic Sans MS"/>
                </a:rPr>
                <a:t>insight</a:t>
              </a:r>
              <a:endParaRPr sz="2000" b="1" dirty="0">
                <a:solidFill>
                  <a:schemeClr val="dk1"/>
                </a:solidFill>
                <a:latin typeface="Comic Sans MS"/>
                <a:ea typeface="Comic Sans MS"/>
                <a:cs typeface="Comic Sans MS"/>
                <a:sym typeface="Comic Sans MS"/>
              </a:endParaRPr>
            </a:p>
          </p:txBody>
        </p:sp>
        <p:sp>
          <p:nvSpPr>
            <p:cNvPr id="28" name="Google Shape;138;p23">
              <a:extLst>
                <a:ext uri="{FF2B5EF4-FFF2-40B4-BE49-F238E27FC236}">
                  <a16:creationId xmlns:a16="http://schemas.microsoft.com/office/drawing/2014/main" id="{36374F41-D08F-67C7-207D-24645A346C93}"/>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29" name="文本框 28">
            <a:extLst>
              <a:ext uri="{FF2B5EF4-FFF2-40B4-BE49-F238E27FC236}">
                <a16:creationId xmlns:a16="http://schemas.microsoft.com/office/drawing/2014/main" id="{F984D0D7-69CE-C970-8342-0B803BD0425F}"/>
              </a:ext>
            </a:extLst>
          </p:cNvPr>
          <p:cNvSpPr txBox="1"/>
          <p:nvPr/>
        </p:nvSpPr>
        <p:spPr>
          <a:xfrm>
            <a:off x="2308301" y="5693653"/>
            <a:ext cx="5325177" cy="646331"/>
          </a:xfrm>
          <a:prstGeom prst="rect">
            <a:avLst/>
          </a:prstGeom>
          <a:noFill/>
        </p:spPr>
        <p:txBody>
          <a:bodyPr wrap="square">
            <a:spAutoFit/>
          </a:bodyPr>
          <a:lstStyle/>
          <a:p>
            <a:pPr marL="285750" indent="-285750">
              <a:buFont typeface="Arial" panose="020B0604020202020204" pitchFamily="34" charset="0"/>
              <a:buChar char="•"/>
            </a:pPr>
            <a:r>
              <a:rPr lang="zh-CN" altLang="en-US" dirty="0"/>
              <a:t>生成数据之前，要先显式规划数据集覆盖空间</a:t>
            </a:r>
            <a:endParaRPr lang="en-US" altLang="zh-CN" dirty="0"/>
          </a:p>
          <a:p>
            <a:pPr marL="285750" indent="-285750">
              <a:buFont typeface="Arial" panose="020B0604020202020204" pitchFamily="34" charset="0"/>
              <a:buChar char="•"/>
            </a:pPr>
            <a:r>
              <a:rPr lang="zh-CN" altLang="en-US" dirty="0"/>
              <a:t>可以利用</a:t>
            </a:r>
            <a:r>
              <a:rPr lang="en-US" altLang="zh-CN" dirty="0"/>
              <a:t>LLM</a:t>
            </a:r>
            <a:r>
              <a:rPr lang="zh-CN" altLang="en-US" dirty="0"/>
              <a:t>充当多个角色</a:t>
            </a:r>
          </a:p>
        </p:txBody>
      </p:sp>
    </p:spTree>
    <p:extLst>
      <p:ext uri="{BB962C8B-B14F-4D97-AF65-F5344CB8AC3E}">
        <p14:creationId xmlns:p14="http://schemas.microsoft.com/office/powerpoint/2010/main" val="278341231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C3EB6-2B10-1E2E-D2AF-FB39E80D5C5F}"/>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6D8AFED8-72CD-270F-71A6-FA8AAC03DC70}"/>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EE753020-299B-CC52-10FD-CB0E2EDDBE56}"/>
              </a:ext>
            </a:extLst>
          </p:cNvPr>
          <p:cNvSpPr>
            <a:spLocks noGrp="1"/>
          </p:cNvSpPr>
          <p:nvPr>
            <p:ph idx="1"/>
          </p:nvPr>
        </p:nvSpPr>
        <p:spPr>
          <a:xfrm>
            <a:off x="834958" y="1905001"/>
            <a:ext cx="8509764" cy="4623680"/>
          </a:xfrm>
        </p:spPr>
        <p:txBody>
          <a:bodyPr>
            <a:normAutofit/>
          </a:bodyPr>
          <a:lstStyle/>
          <a:p>
            <a:pPr marL="0" indent="0">
              <a:buNone/>
            </a:pPr>
            <a:r>
              <a:rPr lang="zh-CN" altLang="en-US" sz="1600" b="1" dirty="0"/>
              <a:t>核心目标 ：</a:t>
            </a:r>
            <a:endParaRPr lang="en-US" altLang="zh-CN" sz="1600" b="1" dirty="0"/>
          </a:p>
          <a:p>
            <a:r>
              <a:rPr lang="en" altLang="zh-CN" sz="1600" dirty="0"/>
              <a:t>RSIR </a:t>
            </a:r>
            <a:r>
              <a:rPr lang="zh-CN" altLang="en-US" sz="1600" dirty="0"/>
              <a:t>的探索效率低</a:t>
            </a:r>
            <a:endParaRPr lang="en-US" altLang="zh-CN" sz="1600" dirty="0"/>
          </a:p>
          <a:p>
            <a:r>
              <a:rPr lang="zh-CN" altLang="en-US" sz="1600" dirty="0"/>
              <a:t>生成序列同质化严重</a:t>
            </a:r>
            <a:endParaRPr lang="en-US" altLang="zh-CN" sz="1600" dirty="0"/>
          </a:p>
          <a:p>
            <a:r>
              <a:rPr lang="zh-CN" altLang="en-US" sz="1600" dirty="0"/>
              <a:t>借鉴协同过滤思想</a:t>
            </a:r>
            <a:endParaRPr lang="en-US" altLang="zh-CN" sz="1600" dirty="0"/>
          </a:p>
          <a:p>
            <a:pPr marL="0" indent="0">
              <a:buNone/>
            </a:pPr>
            <a:endParaRPr lang="en-US" altLang="zh-CN" sz="1600" b="1" dirty="0"/>
          </a:p>
          <a:p>
            <a:pPr marL="0" indent="0">
              <a:buNone/>
            </a:pPr>
            <a:r>
              <a:rPr lang="zh-CN" altLang="en-US" sz="1600" b="1" dirty="0"/>
              <a:t>改动模块：</a:t>
            </a:r>
            <a:endParaRPr lang="en-US" altLang="zh-CN" sz="1600" b="1" dirty="0"/>
          </a:p>
          <a:p>
            <a:r>
              <a:rPr lang="zh-CN" altLang="en-US" sz="1600" b="1" dirty="0"/>
              <a:t>改动一：</a:t>
            </a:r>
            <a:r>
              <a:rPr lang="zh-CN" altLang="en-US" sz="1800" b="1" dirty="0"/>
              <a:t> </a:t>
            </a:r>
            <a:r>
              <a:rPr lang="zh-CN" altLang="en-US" sz="1800" dirty="0"/>
              <a:t>物品候选池：</a:t>
            </a:r>
            <a:endParaRPr lang="en-US" altLang="zh-CN" sz="1800" dirty="0"/>
          </a:p>
          <a:p>
            <a:pPr lvl="1"/>
            <a:r>
              <a:rPr lang="en-US" altLang="zh-CN" sz="1600" dirty="0"/>
              <a:t>Step 1 : </a:t>
            </a:r>
            <a:r>
              <a:rPr lang="zh-CN" altLang="en-US" sz="1600" dirty="0"/>
              <a:t>模式提取，并统计每个前缀的下一个</a:t>
            </a:r>
            <a:r>
              <a:rPr lang="en-US" altLang="zh-CN" sz="1600" dirty="0"/>
              <a:t>item</a:t>
            </a:r>
            <a:r>
              <a:rPr lang="zh-CN" altLang="en-US" sz="1600" dirty="0"/>
              <a:t>的出现频率</a:t>
            </a:r>
            <a:endParaRPr lang="en-US" altLang="zh-CN" sz="1600" dirty="0"/>
          </a:p>
          <a:p>
            <a:pPr lvl="1"/>
            <a:r>
              <a:rPr lang="en-US" altLang="zh-CN" sz="1600" dirty="0"/>
              <a:t>Step 2</a:t>
            </a:r>
            <a:r>
              <a:rPr lang="zh-CN" altLang="en-US" sz="1600" dirty="0"/>
              <a:t> ：改造候选池： </a:t>
            </a:r>
            <a:endParaRPr lang="en-US" altLang="zh-CN" sz="1600" dirty="0"/>
          </a:p>
          <a:p>
            <a:pPr marL="0" indent="0">
              <a:buNone/>
            </a:pPr>
            <a:endParaRPr lang="en-US" altLang="zh-CN" sz="1800" dirty="0"/>
          </a:p>
          <a:p>
            <a:r>
              <a:rPr lang="zh-CN" altLang="en-US" sz="1800" b="1" dirty="0"/>
              <a:t>改动二</a:t>
            </a:r>
            <a:r>
              <a:rPr lang="zh-CN" altLang="en-US" sz="1800" dirty="0"/>
              <a:t>：动态调整保真度约束大小</a:t>
            </a:r>
            <a:endParaRPr lang="en-US" altLang="zh-CN" sz="1800" dirty="0"/>
          </a:p>
          <a:p>
            <a:pPr lvl="1"/>
            <a:r>
              <a:rPr lang="zh-CN" altLang="en-US" sz="1600" dirty="0"/>
              <a:t>如果采取的</a:t>
            </a:r>
            <a:r>
              <a:rPr lang="en-US" altLang="zh-CN" sz="1600" dirty="0"/>
              <a:t>item</a:t>
            </a:r>
            <a:r>
              <a:rPr lang="zh-CN" altLang="en-US" sz="1600" dirty="0"/>
              <a:t> 是基于</a:t>
            </a:r>
            <a:r>
              <a:rPr lang="en-US" altLang="zh-CN" sz="1600" dirty="0"/>
              <a:t>pattern</a:t>
            </a:r>
            <a:r>
              <a:rPr lang="zh-CN" altLang="en-US" sz="1600" dirty="0"/>
              <a:t> </a:t>
            </a:r>
            <a:r>
              <a:rPr lang="en-US" altLang="zh-CN" sz="1600" dirty="0"/>
              <a:t>support</a:t>
            </a:r>
            <a:r>
              <a:rPr lang="zh-CN" altLang="en-US" sz="1600" dirty="0"/>
              <a:t>的，则使用更宽松的界限</a:t>
            </a:r>
            <a:r>
              <a:rPr lang="en-US" altLang="zh-CN" sz="1600" dirty="0"/>
              <a:t>t</a:t>
            </a:r>
          </a:p>
          <a:p>
            <a:pPr lvl="1"/>
            <a:r>
              <a:rPr lang="zh-CN" altLang="en-US" sz="1600" dirty="0"/>
              <a:t>否则采取原先严格的</a:t>
            </a:r>
            <a:r>
              <a:rPr lang="en-US" altLang="zh-CN" sz="1600" dirty="0"/>
              <a:t>t</a:t>
            </a:r>
            <a:r>
              <a:rPr lang="zh-CN" altLang="en-US" sz="1600" dirty="0"/>
              <a:t> </a:t>
            </a:r>
            <a:endParaRPr lang="en-US" altLang="zh-CN" sz="1600" dirty="0"/>
          </a:p>
          <a:p>
            <a:pPr marL="0" indent="0">
              <a:buNone/>
            </a:pPr>
            <a:endParaRPr lang="en-US" altLang="zh-CN" sz="1800" dirty="0"/>
          </a:p>
        </p:txBody>
      </p:sp>
      <p:grpSp>
        <p:nvGrpSpPr>
          <p:cNvPr id="11" name="Google Shape;136;p23">
            <a:extLst>
              <a:ext uri="{FF2B5EF4-FFF2-40B4-BE49-F238E27FC236}">
                <a16:creationId xmlns:a16="http://schemas.microsoft.com/office/drawing/2014/main" id="{4F07D292-3300-C74A-C46D-8DBE9B09F126}"/>
              </a:ext>
            </a:extLst>
          </p:cNvPr>
          <p:cNvGrpSpPr/>
          <p:nvPr/>
        </p:nvGrpSpPr>
        <p:grpSpPr>
          <a:xfrm>
            <a:off x="646996" y="1087359"/>
            <a:ext cx="5772781" cy="475601"/>
            <a:chOff x="188705" y="912146"/>
            <a:chExt cx="2559301" cy="602940"/>
          </a:xfrm>
          <a:solidFill>
            <a:schemeClr val="bg1"/>
          </a:solidFill>
        </p:grpSpPr>
        <p:sp>
          <p:nvSpPr>
            <p:cNvPr id="12" name="Google Shape;137;p23">
              <a:extLst>
                <a:ext uri="{FF2B5EF4-FFF2-40B4-BE49-F238E27FC236}">
                  <a16:creationId xmlns:a16="http://schemas.microsoft.com/office/drawing/2014/main" id="{C78A8C43-C8B7-57AD-E8DD-93CEB38269E1}"/>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algn="ctr"/>
              <a:r>
                <a:rPr lang="en" sz="2000" b="1" dirty="0">
                  <a:solidFill>
                    <a:schemeClr val="dk1"/>
                  </a:solidFill>
                  <a:latin typeface="Comic Sans MS"/>
                  <a:ea typeface="Comic Sans MS"/>
                  <a:cs typeface="Comic Sans MS"/>
                  <a:sym typeface="Comic Sans MS"/>
                </a:rPr>
                <a:t>idea</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1 :</a:t>
              </a:r>
              <a:r>
                <a:rPr lang="zh-CN" altLang="en-US" sz="2000" b="1" dirty="0">
                  <a:solidFill>
                    <a:schemeClr val="dk1"/>
                  </a:solidFill>
                  <a:latin typeface="Comic Sans MS"/>
                </a:rPr>
                <a:t>用 </a:t>
              </a:r>
              <a:r>
                <a:rPr lang="en" altLang="zh-CN" sz="2000" b="1" dirty="0">
                  <a:solidFill>
                    <a:schemeClr val="dk1"/>
                  </a:solidFill>
                  <a:latin typeface="Comic Sans MS"/>
                </a:rPr>
                <a:t>Pattern </a:t>
              </a:r>
              <a:r>
                <a:rPr lang="zh-CN" altLang="en-US" sz="2000" b="1" dirty="0">
                  <a:solidFill>
                    <a:schemeClr val="dk1"/>
                  </a:solidFill>
                  <a:latin typeface="Comic Sans MS"/>
                </a:rPr>
                <a:t>约束驱动 </a:t>
              </a:r>
              <a:r>
                <a:rPr lang="en" altLang="zh-CN" sz="2000" b="1" dirty="0">
                  <a:solidFill>
                    <a:schemeClr val="dk1"/>
                  </a:solidFill>
                  <a:latin typeface="Comic Sans MS"/>
                </a:rPr>
                <a:t>RSIR </a:t>
              </a:r>
              <a:r>
                <a:rPr lang="zh-CN" altLang="en-US" sz="2000" b="1" dirty="0">
                  <a:solidFill>
                    <a:schemeClr val="dk1"/>
                  </a:solidFill>
                  <a:latin typeface="Comic Sans MS"/>
                </a:rPr>
                <a:t>的有界探索</a:t>
              </a:r>
            </a:p>
            <a:p>
              <a:pPr lvl="0" algn="ct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DD6B83C2-C5F7-6F92-0733-8EA90001745C}"/>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B05C76BF-67E8-3D38-9CEE-68C23227515E}"/>
              </a:ext>
            </a:extLst>
          </p:cNvPr>
          <p:cNvSpPr/>
          <p:nvPr/>
        </p:nvSpPr>
        <p:spPr>
          <a:xfrm>
            <a:off x="1600061" y="264850"/>
            <a:ext cx="60525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3350E747-60D3-9345-3015-D3B655D1A427}"/>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idea</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78F6EF8B-EBCE-283B-B182-DD526F6AA25C}"/>
              </a:ext>
            </a:extLst>
          </p:cNvPr>
          <p:cNvSpPr txBox="1"/>
          <p:nvPr/>
        </p:nvSpPr>
        <p:spPr>
          <a:xfrm>
            <a:off x="1600061" y="304295"/>
            <a:ext cx="6329547" cy="369332"/>
          </a:xfrm>
          <a:prstGeom prst="rect">
            <a:avLst/>
          </a:prstGeom>
          <a:noFill/>
        </p:spPr>
        <p:txBody>
          <a:bodyPr wrap="square">
            <a:spAutoFit/>
          </a:bodyPr>
          <a:lstStyle/>
          <a:p>
            <a:r>
              <a:rPr lang="en" altLang="zh-CN" dirty="0">
                <a:solidFill>
                  <a:srgbClr val="003C5A"/>
                </a:solidFill>
              </a:rPr>
              <a:t> </a:t>
            </a:r>
            <a:r>
              <a:rPr lang="en" altLang="zh-CN" dirty="0">
                <a:solidFill>
                  <a:srgbClr val="003C5A"/>
                </a:solidFill>
                <a:latin typeface="Arial" panose="020B0604020202020204" pitchFamily="34" charset="0"/>
                <a:cs typeface="Arial" panose="020B0604020202020204" pitchFamily="34" charset="0"/>
              </a:rPr>
              <a:t>I</a:t>
            </a:r>
            <a:r>
              <a:rPr lang="zh-CN" altLang="en-US" dirty="0">
                <a:solidFill>
                  <a:srgbClr val="003C5A"/>
                </a:solidFill>
                <a:latin typeface="Arial" panose="020B0604020202020204" pitchFamily="34" charset="0"/>
                <a:cs typeface="Arial" panose="020B0604020202020204" pitchFamily="34" charset="0"/>
              </a:rPr>
              <a:t>            </a:t>
            </a:r>
            <a:r>
              <a:rPr lang="en" altLang="zh-CN" dirty="0">
                <a:solidFill>
                  <a:schemeClr val="bg1"/>
                </a:solidFill>
                <a:latin typeface="Arial" panose="020B0604020202020204" pitchFamily="34" charset="0"/>
                <a:cs typeface="Arial" panose="020B0604020202020204" pitchFamily="34" charset="0"/>
              </a:rPr>
              <a:t>II</a:t>
            </a:r>
            <a:endParaRPr lang="zh-CN" altLang="en-US" dirty="0">
              <a:solidFill>
                <a:schemeClr val="bg1"/>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048BB5B3-6768-63AD-FCC0-6E15E38274BE}"/>
              </a:ext>
            </a:extLst>
          </p:cNvPr>
          <p:cNvSpPr>
            <a:spLocks noGrp="1"/>
          </p:cNvSpPr>
          <p:nvPr>
            <p:ph type="sldNum" sz="quarter" idx="12"/>
          </p:nvPr>
        </p:nvSpPr>
        <p:spPr/>
        <p:txBody>
          <a:bodyPr/>
          <a:lstStyle/>
          <a:p>
            <a:fld id="{F4F8D3FC-E4A1-684A-A978-3E74850AAFB0}" type="slidenum">
              <a:rPr kumimoji="1" lang="zh-CN" altLang="en-US" smtClean="0"/>
              <a:t>11</a:t>
            </a:fld>
            <a:endParaRPr kumimoji="1" lang="zh-CN" altLang="en-US" dirty="0"/>
          </a:p>
        </p:txBody>
      </p:sp>
      <p:pic>
        <p:nvPicPr>
          <p:cNvPr id="2" name="图片 1">
            <a:extLst>
              <a:ext uri="{FF2B5EF4-FFF2-40B4-BE49-F238E27FC236}">
                <a16:creationId xmlns:a16="http://schemas.microsoft.com/office/drawing/2014/main" id="{AE2D88E2-D928-E965-6C35-566D5CA32333}"/>
              </a:ext>
            </a:extLst>
          </p:cNvPr>
          <p:cNvPicPr>
            <a:picLocks noChangeAspect="1"/>
          </p:cNvPicPr>
          <p:nvPr/>
        </p:nvPicPr>
        <p:blipFill>
          <a:blip r:embed="rId3"/>
          <a:srcRect l="2510" t="32720" r="2913" b="21440"/>
          <a:stretch>
            <a:fillRect/>
          </a:stretch>
        </p:blipFill>
        <p:spPr>
          <a:xfrm>
            <a:off x="3688423" y="4633645"/>
            <a:ext cx="5784350" cy="256854"/>
          </a:xfrm>
          <a:prstGeom prst="rect">
            <a:avLst/>
          </a:prstGeom>
        </p:spPr>
      </p:pic>
      <p:pic>
        <p:nvPicPr>
          <p:cNvPr id="4" name="图片 3">
            <a:extLst>
              <a:ext uri="{FF2B5EF4-FFF2-40B4-BE49-F238E27FC236}">
                <a16:creationId xmlns:a16="http://schemas.microsoft.com/office/drawing/2014/main" id="{1E9F88F2-518F-477E-DD15-8776D5FB5D51}"/>
              </a:ext>
            </a:extLst>
          </p:cNvPr>
          <p:cNvPicPr>
            <a:picLocks noChangeAspect="1"/>
          </p:cNvPicPr>
          <p:nvPr/>
        </p:nvPicPr>
        <p:blipFill>
          <a:blip r:embed="rId4"/>
          <a:stretch>
            <a:fillRect/>
          </a:stretch>
        </p:blipFill>
        <p:spPr>
          <a:xfrm>
            <a:off x="3219884" y="1865407"/>
            <a:ext cx="4386140" cy="1940023"/>
          </a:xfrm>
          <a:prstGeom prst="rect">
            <a:avLst/>
          </a:prstGeom>
        </p:spPr>
      </p:pic>
      <p:sp>
        <p:nvSpPr>
          <p:cNvPr id="6" name="矩形 5">
            <a:extLst>
              <a:ext uri="{FF2B5EF4-FFF2-40B4-BE49-F238E27FC236}">
                <a16:creationId xmlns:a16="http://schemas.microsoft.com/office/drawing/2014/main" id="{3356CEF0-E1D0-F099-C3A1-E0EC9FC85AA3}"/>
              </a:ext>
            </a:extLst>
          </p:cNvPr>
          <p:cNvSpPr/>
          <p:nvPr/>
        </p:nvSpPr>
        <p:spPr>
          <a:xfrm>
            <a:off x="3258412" y="1865407"/>
            <a:ext cx="4309084" cy="1873146"/>
          </a:xfrm>
          <a:prstGeom prst="rect">
            <a:avLst/>
          </a:prstGeom>
          <a:solidFill>
            <a:schemeClr val="accent1">
              <a:alpha val="22736"/>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片 8">
            <a:extLst>
              <a:ext uri="{FF2B5EF4-FFF2-40B4-BE49-F238E27FC236}">
                <a16:creationId xmlns:a16="http://schemas.microsoft.com/office/drawing/2014/main" id="{7577BE63-B3EC-DB31-03A2-6EC399D41E79}"/>
              </a:ext>
            </a:extLst>
          </p:cNvPr>
          <p:cNvPicPr>
            <a:picLocks noChangeAspect="1"/>
          </p:cNvPicPr>
          <p:nvPr/>
        </p:nvPicPr>
        <p:blipFill>
          <a:blip r:embed="rId5"/>
          <a:srcRect l="4589" r="3576" b="23742"/>
          <a:stretch>
            <a:fillRect/>
          </a:stretch>
        </p:blipFill>
        <p:spPr>
          <a:xfrm>
            <a:off x="7794514" y="1968002"/>
            <a:ext cx="4155188" cy="1667955"/>
          </a:xfrm>
          <a:prstGeom prst="rect">
            <a:avLst/>
          </a:prstGeom>
        </p:spPr>
      </p:pic>
    </p:spTree>
    <p:extLst>
      <p:ext uri="{BB962C8B-B14F-4D97-AF65-F5344CB8AC3E}">
        <p14:creationId xmlns:p14="http://schemas.microsoft.com/office/powerpoint/2010/main" val="36625095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330D5-5CB6-EB6F-7804-AC7A37AB4122}"/>
            </a:ext>
          </a:extLst>
        </p:cNvPr>
        <p:cNvGrpSpPr/>
        <p:nvPr/>
      </p:nvGrpSpPr>
      <p:grpSpPr>
        <a:xfrm>
          <a:off x="0" y="0"/>
          <a:ext cx="0" cy="0"/>
          <a:chOff x="0" y="0"/>
          <a:chExt cx="0" cy="0"/>
        </a:xfrm>
      </p:grpSpPr>
      <p:sp>
        <p:nvSpPr>
          <p:cNvPr id="7" name="圆角矩形 6">
            <a:extLst>
              <a:ext uri="{FF2B5EF4-FFF2-40B4-BE49-F238E27FC236}">
                <a16:creationId xmlns:a16="http://schemas.microsoft.com/office/drawing/2014/main" id="{728F9BC4-7FF9-D2B5-D0EA-907FB3FE0E50}"/>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3" name="内容占位符 2">
            <a:extLst>
              <a:ext uri="{FF2B5EF4-FFF2-40B4-BE49-F238E27FC236}">
                <a16:creationId xmlns:a16="http://schemas.microsoft.com/office/drawing/2014/main" id="{0B285154-51D9-A6F2-FC1B-89238BD64363}"/>
              </a:ext>
            </a:extLst>
          </p:cNvPr>
          <p:cNvSpPr>
            <a:spLocks noGrp="1"/>
          </p:cNvSpPr>
          <p:nvPr>
            <p:ph idx="1"/>
          </p:nvPr>
        </p:nvSpPr>
        <p:spPr>
          <a:xfrm>
            <a:off x="834958" y="1905001"/>
            <a:ext cx="8509764" cy="4623680"/>
          </a:xfrm>
        </p:spPr>
        <p:txBody>
          <a:bodyPr>
            <a:normAutofit/>
          </a:bodyPr>
          <a:lstStyle/>
          <a:p>
            <a:pPr marL="0" indent="0">
              <a:buNone/>
            </a:pPr>
            <a:r>
              <a:rPr lang="zh-CN" altLang="en-US" sz="1800" b="1" dirty="0"/>
              <a:t>核心目标 ：</a:t>
            </a:r>
            <a:endParaRPr lang="en-US" altLang="zh-CN" sz="1800" b="1" dirty="0"/>
          </a:p>
          <a:p>
            <a:r>
              <a:rPr lang="en" altLang="zh-CN" sz="1900" dirty="0"/>
              <a:t>RSIR</a:t>
            </a:r>
            <a:r>
              <a:rPr lang="en" altLang="zh-CN" sz="1800" dirty="0"/>
              <a:t> </a:t>
            </a:r>
            <a:r>
              <a:rPr lang="zh-CN" altLang="en-US" sz="1800" dirty="0"/>
              <a:t>在第一轮可能存在的冷启动问题</a:t>
            </a:r>
            <a:endParaRPr lang="en-US" altLang="zh-CN" sz="1800" dirty="0"/>
          </a:p>
          <a:p>
            <a:r>
              <a:rPr lang="zh-CN" altLang="en-US" sz="1800" dirty="0"/>
              <a:t>避免生成数据只集中在高频 </a:t>
            </a:r>
            <a:r>
              <a:rPr lang="en" altLang="zh-CN" sz="1900" dirty="0"/>
              <a:t>item</a:t>
            </a:r>
            <a:r>
              <a:rPr lang="en" altLang="zh-CN" sz="1800" dirty="0"/>
              <a:t> </a:t>
            </a:r>
            <a:r>
              <a:rPr lang="zh-CN" altLang="en-US" sz="1800" dirty="0"/>
              <a:t>上</a:t>
            </a:r>
            <a:endParaRPr lang="en-US" altLang="zh-CN" sz="1800" dirty="0"/>
          </a:p>
          <a:p>
            <a:pPr marL="0" indent="0">
              <a:buNone/>
            </a:pPr>
            <a:r>
              <a:rPr lang="en-US" altLang="zh-CN" sz="1900" b="1" dirty="0"/>
              <a:t>Pipeline</a:t>
            </a:r>
            <a:r>
              <a:rPr lang="en-US" altLang="zh-CN" sz="1800" dirty="0"/>
              <a:t> : </a:t>
            </a:r>
          </a:p>
          <a:p>
            <a:pPr marL="0" indent="0">
              <a:buNone/>
            </a:pPr>
            <a:r>
              <a:rPr lang="en-US" altLang="zh-CN" sz="2000" dirty="0"/>
              <a:t>Input</a:t>
            </a:r>
            <a:r>
              <a:rPr lang="zh-CN" altLang="en-US" sz="2000" dirty="0"/>
              <a:t> ： 原始数据集</a:t>
            </a:r>
            <a:endParaRPr lang="en-US" altLang="zh-CN" sz="2000" dirty="0"/>
          </a:p>
          <a:p>
            <a:r>
              <a:rPr lang="en-US" altLang="zh-CN" sz="2000" dirty="0"/>
              <a:t>Step 1 : </a:t>
            </a:r>
            <a:r>
              <a:rPr lang="zh-CN" altLang="en-US" sz="2000" dirty="0"/>
              <a:t>构建数据覆盖：利用 </a:t>
            </a:r>
            <a:r>
              <a:rPr lang="en" altLang="zh-CN" sz="2000" dirty="0"/>
              <a:t>Taxonomy </a:t>
            </a:r>
            <a:r>
              <a:rPr lang="zh-CN" altLang="en-US" sz="2000" dirty="0"/>
              <a:t>将原始数据集投影到一个多维网格中</a:t>
            </a:r>
            <a:endParaRPr lang="en-US" altLang="zh-CN" sz="2000" dirty="0"/>
          </a:p>
          <a:p>
            <a:pPr lvl="1"/>
            <a:r>
              <a:rPr lang="zh-CN" altLang="en-US" sz="1800" dirty="0"/>
              <a:t>类别、流行度、价格区间</a:t>
            </a:r>
            <a:endParaRPr lang="en-US" altLang="zh-CN" sz="1800" dirty="0"/>
          </a:p>
          <a:p>
            <a:r>
              <a:rPr lang="en-US" altLang="zh-CN" sz="2000" dirty="0"/>
              <a:t>Step 2 :</a:t>
            </a:r>
            <a:r>
              <a:rPr lang="zh-CN" altLang="en-US" sz="2000" dirty="0"/>
              <a:t>多样性模式提取：在挖掘 </a:t>
            </a:r>
            <a:r>
              <a:rPr lang="en" altLang="zh-CN" sz="2000" dirty="0"/>
              <a:t>Pattern </a:t>
            </a:r>
            <a:r>
              <a:rPr lang="zh-CN" altLang="en-US" sz="2000" dirty="0"/>
              <a:t>时，不只是按 </a:t>
            </a:r>
            <a:r>
              <a:rPr lang="en" altLang="zh-CN" sz="2000" dirty="0"/>
              <a:t>Support</a:t>
            </a:r>
            <a:r>
              <a:rPr lang="zh-CN" altLang="en-US" sz="2000" dirty="0"/>
              <a:t>排序。</a:t>
            </a:r>
            <a:endParaRPr lang="en-US" altLang="zh-CN" sz="2000" dirty="0"/>
          </a:p>
          <a:p>
            <a:r>
              <a:rPr lang="en-US" altLang="zh-CN" sz="2000" dirty="0"/>
              <a:t>Step 3 : </a:t>
            </a:r>
            <a:r>
              <a:rPr lang="zh-CN" altLang="en-US" sz="2000" dirty="0"/>
              <a:t>模型参数更新</a:t>
            </a:r>
            <a:endParaRPr lang="en-US" altLang="zh-CN" sz="2000" dirty="0"/>
          </a:p>
          <a:p>
            <a:pPr marL="0" indent="0">
              <a:buNone/>
            </a:pPr>
            <a:endParaRPr lang="en-US" altLang="zh-CN" sz="1800" dirty="0"/>
          </a:p>
        </p:txBody>
      </p:sp>
      <p:grpSp>
        <p:nvGrpSpPr>
          <p:cNvPr id="11" name="Google Shape;136;p23">
            <a:extLst>
              <a:ext uri="{FF2B5EF4-FFF2-40B4-BE49-F238E27FC236}">
                <a16:creationId xmlns:a16="http://schemas.microsoft.com/office/drawing/2014/main" id="{B948F548-1337-4C62-341E-5241368E0909}"/>
              </a:ext>
            </a:extLst>
          </p:cNvPr>
          <p:cNvGrpSpPr/>
          <p:nvPr/>
        </p:nvGrpSpPr>
        <p:grpSpPr>
          <a:xfrm>
            <a:off x="607471" y="1281152"/>
            <a:ext cx="4778568" cy="475601"/>
            <a:chOff x="188705" y="912146"/>
            <a:chExt cx="2559301" cy="602940"/>
          </a:xfrm>
          <a:solidFill>
            <a:schemeClr val="bg1"/>
          </a:solidFill>
        </p:grpSpPr>
        <p:sp>
          <p:nvSpPr>
            <p:cNvPr id="12" name="Google Shape;137;p23">
              <a:extLst>
                <a:ext uri="{FF2B5EF4-FFF2-40B4-BE49-F238E27FC236}">
                  <a16:creationId xmlns:a16="http://schemas.microsoft.com/office/drawing/2014/main" id="{55AC9708-8194-71B0-D510-59BBEA09E052}"/>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 sz="2000" b="1" dirty="0">
                  <a:solidFill>
                    <a:schemeClr val="dk1"/>
                  </a:solidFill>
                  <a:latin typeface="Comic Sans MS"/>
                  <a:ea typeface="Comic Sans MS"/>
                  <a:cs typeface="Comic Sans MS"/>
                  <a:sym typeface="Comic Sans MS"/>
                </a:rPr>
                <a:t>idea</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2 :</a:t>
              </a:r>
              <a:r>
                <a:rPr lang="zh-CN" altLang="en-US" sz="2000" b="1" dirty="0"/>
                <a:t>模式引导的递归数据扩充框架</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BD6E4C7D-4E17-B49E-9E04-B9BBA787CDFC}"/>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17" name="圆角矩形 16">
            <a:extLst>
              <a:ext uri="{FF2B5EF4-FFF2-40B4-BE49-F238E27FC236}">
                <a16:creationId xmlns:a16="http://schemas.microsoft.com/office/drawing/2014/main" id="{DF44FB1F-36DD-63A4-DC96-EFFDF8523A32}"/>
              </a:ext>
            </a:extLst>
          </p:cNvPr>
          <p:cNvSpPr/>
          <p:nvPr/>
        </p:nvSpPr>
        <p:spPr>
          <a:xfrm>
            <a:off x="2079825" y="267648"/>
            <a:ext cx="569246"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5" name="圆角矩形 4">
            <a:extLst>
              <a:ext uri="{FF2B5EF4-FFF2-40B4-BE49-F238E27FC236}">
                <a16:creationId xmlns:a16="http://schemas.microsoft.com/office/drawing/2014/main" id="{AE17084C-A334-ADB2-997A-42619CD43A96}"/>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idea</a:t>
            </a:r>
            <a:endParaRPr lang="zh-CN" altLang="en-US" dirty="0">
              <a:solidFill>
                <a:srgbClr val="003C5A"/>
              </a:solidFill>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F12B1C7E-F164-B5CF-F08E-136E0A83D9E3}"/>
              </a:ext>
            </a:extLst>
          </p:cNvPr>
          <p:cNvSpPr txBox="1"/>
          <p:nvPr/>
        </p:nvSpPr>
        <p:spPr>
          <a:xfrm>
            <a:off x="1548905" y="298185"/>
            <a:ext cx="6329547" cy="369332"/>
          </a:xfrm>
          <a:prstGeom prst="rect">
            <a:avLst/>
          </a:prstGeom>
          <a:noFill/>
        </p:spPr>
        <p:txBody>
          <a:bodyPr wrap="square">
            <a:spAutoFit/>
          </a:bodyPr>
          <a:lstStyle/>
          <a:p>
            <a:r>
              <a:rPr lang="en" altLang="zh-CN" dirty="0">
                <a:solidFill>
                  <a:schemeClr val="bg1"/>
                </a:solidFill>
              </a:rPr>
              <a:t> </a:t>
            </a:r>
            <a:r>
              <a:rPr lang="en" altLang="zh-CN" dirty="0">
                <a:solidFill>
                  <a:schemeClr val="bg1"/>
                </a:solidFill>
                <a:latin typeface="Arial" panose="020B0604020202020204" pitchFamily="34" charset="0"/>
                <a:cs typeface="Arial" panose="020B0604020202020204" pitchFamily="34" charset="0"/>
              </a:rPr>
              <a:t>I</a:t>
            </a:r>
            <a:r>
              <a:rPr lang="zh-CN" altLang="en-US" dirty="0">
                <a:solidFill>
                  <a:schemeClr val="bg1"/>
                </a:solidFill>
                <a:latin typeface="Arial" panose="020B0604020202020204" pitchFamily="34" charset="0"/>
                <a:cs typeface="Arial" panose="020B0604020202020204" pitchFamily="34" charset="0"/>
              </a:rPr>
              <a:t>         </a:t>
            </a:r>
            <a:r>
              <a:rPr lang="en" altLang="zh-CN" dirty="0">
                <a:solidFill>
                  <a:srgbClr val="003C5A"/>
                </a:solidFill>
                <a:latin typeface="Arial" panose="020B0604020202020204" pitchFamily="34" charset="0"/>
                <a:cs typeface="Arial" panose="020B0604020202020204" pitchFamily="34" charset="0"/>
              </a:rPr>
              <a:t>II</a:t>
            </a:r>
            <a:endParaRPr lang="zh-CN" altLang="en-US" dirty="0">
              <a:solidFill>
                <a:srgbClr val="003C5A"/>
              </a:solidFill>
              <a:latin typeface="Arial" panose="020B0604020202020204" pitchFamily="34" charset="0"/>
              <a:cs typeface="Arial" panose="020B0604020202020204" pitchFamily="34" charset="0"/>
            </a:endParaRPr>
          </a:p>
        </p:txBody>
      </p:sp>
      <p:sp>
        <p:nvSpPr>
          <p:cNvPr id="8" name="灯片编号占位符 7">
            <a:extLst>
              <a:ext uri="{FF2B5EF4-FFF2-40B4-BE49-F238E27FC236}">
                <a16:creationId xmlns:a16="http://schemas.microsoft.com/office/drawing/2014/main" id="{62AA1C4E-81E0-A050-065B-06F50DDCBE74}"/>
              </a:ext>
            </a:extLst>
          </p:cNvPr>
          <p:cNvSpPr>
            <a:spLocks noGrp="1"/>
          </p:cNvSpPr>
          <p:nvPr>
            <p:ph type="sldNum" sz="quarter" idx="12"/>
          </p:nvPr>
        </p:nvSpPr>
        <p:spPr/>
        <p:txBody>
          <a:bodyPr/>
          <a:lstStyle/>
          <a:p>
            <a:fld id="{F4F8D3FC-E4A1-684A-A978-3E74850AAFB0}" type="slidenum">
              <a:rPr kumimoji="1" lang="zh-CN" altLang="en-US" smtClean="0"/>
              <a:t>12</a:t>
            </a:fld>
            <a:endParaRPr kumimoji="1" lang="zh-CN" altLang="en-US" dirty="0"/>
          </a:p>
        </p:txBody>
      </p:sp>
      <p:pic>
        <p:nvPicPr>
          <p:cNvPr id="2" name="图片 1">
            <a:extLst>
              <a:ext uri="{FF2B5EF4-FFF2-40B4-BE49-F238E27FC236}">
                <a16:creationId xmlns:a16="http://schemas.microsoft.com/office/drawing/2014/main" id="{D903486D-58FA-6685-6FE7-CA866354231F}"/>
              </a:ext>
            </a:extLst>
          </p:cNvPr>
          <p:cNvPicPr>
            <a:picLocks noChangeAspect="1"/>
          </p:cNvPicPr>
          <p:nvPr/>
        </p:nvPicPr>
        <p:blipFill>
          <a:blip r:embed="rId3"/>
          <a:stretch>
            <a:fillRect/>
          </a:stretch>
        </p:blipFill>
        <p:spPr>
          <a:xfrm>
            <a:off x="5101470" y="2001116"/>
            <a:ext cx="6252330" cy="1427884"/>
          </a:xfrm>
          <a:prstGeom prst="rect">
            <a:avLst/>
          </a:prstGeom>
        </p:spPr>
      </p:pic>
    </p:spTree>
    <p:extLst>
      <p:ext uri="{BB962C8B-B14F-4D97-AF65-F5344CB8AC3E}">
        <p14:creationId xmlns:p14="http://schemas.microsoft.com/office/powerpoint/2010/main" val="361311175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05B5-64E4-B040-00ED-5C861D561A41}"/>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59A6D65D-7776-BE9D-71BC-324D071622DE}"/>
              </a:ext>
            </a:extLst>
          </p:cNvPr>
          <p:cNvSpPr>
            <a:spLocks noGrp="1"/>
          </p:cNvSpPr>
          <p:nvPr>
            <p:ph idx="1"/>
          </p:nvPr>
        </p:nvSpPr>
        <p:spPr>
          <a:xfrm>
            <a:off x="834958" y="1905001"/>
            <a:ext cx="8509764" cy="4623680"/>
          </a:xfrm>
        </p:spPr>
        <p:txBody>
          <a:bodyPr>
            <a:normAutofit/>
          </a:bodyPr>
          <a:lstStyle/>
          <a:p>
            <a:r>
              <a:rPr lang="en-US" altLang="zh-CN" sz="1800" dirty="0"/>
              <a:t>Step 4 :</a:t>
            </a:r>
            <a:r>
              <a:rPr lang="zh-CN" altLang="en-US" sz="1800" dirty="0"/>
              <a:t>针对不同区域，并行执行不同算法</a:t>
            </a:r>
            <a:endParaRPr lang="en-US" altLang="zh-CN" sz="1800" dirty="0"/>
          </a:p>
          <a:p>
            <a:endParaRPr lang="en-US" altLang="zh-CN" sz="1800" dirty="0"/>
          </a:p>
          <a:p>
            <a:pPr marL="0" indent="0">
              <a:buNone/>
            </a:pPr>
            <a:endParaRPr lang="en-US" altLang="zh-CN" sz="1800" dirty="0"/>
          </a:p>
          <a:p>
            <a:pPr marL="0" indent="0">
              <a:buNone/>
            </a:pPr>
            <a:endParaRPr lang="en-US" altLang="zh-CN" sz="1800" dirty="0"/>
          </a:p>
          <a:p>
            <a:pPr marL="0" indent="0">
              <a:buNone/>
            </a:pPr>
            <a:endParaRPr lang="zh-CN" altLang="en-US" sz="1800" dirty="0"/>
          </a:p>
          <a:p>
            <a:r>
              <a:rPr lang="zh-CN" altLang="en-US" sz="1800" dirty="0"/>
              <a:t>循环</a:t>
            </a:r>
            <a:r>
              <a:rPr lang="en-US" altLang="zh-CN" sz="1800" dirty="0"/>
              <a:t>step</a:t>
            </a:r>
            <a:r>
              <a:rPr lang="zh-CN" altLang="en-US" sz="1800" dirty="0"/>
              <a:t> </a:t>
            </a:r>
            <a:r>
              <a:rPr lang="en-US" altLang="zh-CN" sz="1800" dirty="0"/>
              <a:t>3</a:t>
            </a:r>
            <a:r>
              <a:rPr lang="zh-CN" altLang="en-US" sz="1800" dirty="0"/>
              <a:t>、</a:t>
            </a:r>
            <a:r>
              <a:rPr lang="en-US" altLang="zh-CN" sz="1800" dirty="0"/>
              <a:t>4</a:t>
            </a:r>
            <a:r>
              <a:rPr lang="zh-CN" altLang="en-US" sz="1800" dirty="0"/>
              <a:t>进行迭代</a:t>
            </a:r>
            <a:endParaRPr lang="en-US" altLang="zh-CN" sz="1800" dirty="0"/>
          </a:p>
          <a:p>
            <a:pPr marL="0" indent="0">
              <a:buNone/>
            </a:pPr>
            <a:r>
              <a:rPr lang="en-US" altLang="zh-CN" sz="1800" dirty="0"/>
              <a:t>Output </a:t>
            </a:r>
            <a:r>
              <a:rPr lang="zh-CN" altLang="en-US" sz="1800" dirty="0"/>
              <a:t>： 扩充后的符合原始分布、多样性的数据集，训练好的预测模型</a:t>
            </a:r>
            <a:endParaRPr lang="en-US" altLang="zh-CN" sz="1800" dirty="0"/>
          </a:p>
          <a:p>
            <a:endParaRPr lang="en-US" altLang="zh-CN" sz="1800" dirty="0"/>
          </a:p>
        </p:txBody>
      </p:sp>
      <p:grpSp>
        <p:nvGrpSpPr>
          <p:cNvPr id="11" name="Google Shape;136;p23">
            <a:extLst>
              <a:ext uri="{FF2B5EF4-FFF2-40B4-BE49-F238E27FC236}">
                <a16:creationId xmlns:a16="http://schemas.microsoft.com/office/drawing/2014/main" id="{30D6E90F-E97D-957C-96D9-67421E4E6515}"/>
              </a:ext>
            </a:extLst>
          </p:cNvPr>
          <p:cNvGrpSpPr/>
          <p:nvPr/>
        </p:nvGrpSpPr>
        <p:grpSpPr>
          <a:xfrm>
            <a:off x="607471" y="1281152"/>
            <a:ext cx="4778568" cy="475601"/>
            <a:chOff x="188705" y="912146"/>
            <a:chExt cx="2559301" cy="602940"/>
          </a:xfrm>
          <a:solidFill>
            <a:schemeClr val="bg1"/>
          </a:solidFill>
        </p:grpSpPr>
        <p:sp>
          <p:nvSpPr>
            <p:cNvPr id="12" name="Google Shape;137;p23">
              <a:extLst>
                <a:ext uri="{FF2B5EF4-FFF2-40B4-BE49-F238E27FC236}">
                  <a16:creationId xmlns:a16="http://schemas.microsoft.com/office/drawing/2014/main" id="{A68773AD-E8FF-8009-6777-5C524E04A642}"/>
                </a:ext>
              </a:extLst>
            </p:cNvPr>
            <p:cNvSpPr txBox="1"/>
            <p:nvPr/>
          </p:nvSpPr>
          <p:spPr>
            <a:xfrm>
              <a:off x="188706" y="912146"/>
              <a:ext cx="2559300" cy="602940"/>
            </a:xfrm>
            <a:prstGeom prst="rect">
              <a:avLst/>
            </a:prstGeom>
            <a:grpFill/>
            <a:ln w="12700" cap="flat" cmpd="sng">
              <a:solidFill>
                <a:schemeClr val="dk1"/>
              </a:solidFill>
              <a:prstDash val="solid"/>
              <a:miter lim="800000"/>
              <a:headEnd type="none" w="sm" len="sm"/>
              <a:tailEnd type="none" w="sm" len="sm"/>
            </a:ln>
          </p:spPr>
          <p:txBody>
            <a:bodyPr spcFirstLastPara="1" wrap="square" lIns="68575" tIns="34275" rIns="68575" bIns="34275" anchor="t" anchorCtr="0">
              <a:noAutofit/>
            </a:bodyPr>
            <a:lstStyle/>
            <a:p>
              <a:pPr lvl="0" algn="ctr"/>
              <a:r>
                <a:rPr lang="en" sz="2000" b="1" dirty="0">
                  <a:solidFill>
                    <a:schemeClr val="dk1"/>
                  </a:solidFill>
                  <a:latin typeface="Comic Sans MS"/>
                  <a:ea typeface="Comic Sans MS"/>
                  <a:cs typeface="Comic Sans MS"/>
                  <a:sym typeface="Comic Sans MS"/>
                </a:rPr>
                <a:t>idea</a:t>
              </a:r>
              <a:r>
                <a:rPr lang="zh-CN" altLang="en-US" sz="2000" b="1" dirty="0">
                  <a:solidFill>
                    <a:schemeClr val="dk1"/>
                  </a:solidFill>
                  <a:latin typeface="Comic Sans MS"/>
                  <a:ea typeface="Comic Sans MS"/>
                  <a:cs typeface="Comic Sans MS"/>
                  <a:sym typeface="Comic Sans MS"/>
                </a:rPr>
                <a:t> </a:t>
              </a:r>
              <a:r>
                <a:rPr lang="en-US" altLang="zh-CN" sz="2000" b="1" dirty="0">
                  <a:solidFill>
                    <a:schemeClr val="dk1"/>
                  </a:solidFill>
                  <a:latin typeface="Comic Sans MS"/>
                  <a:ea typeface="Comic Sans MS"/>
                  <a:cs typeface="Comic Sans MS"/>
                  <a:sym typeface="Comic Sans MS"/>
                </a:rPr>
                <a:t>2 :</a:t>
              </a:r>
              <a:r>
                <a:rPr lang="zh-CN" altLang="en-US" sz="2000" b="1" dirty="0"/>
                <a:t>模式引导的递归数据扩充框架</a:t>
              </a:r>
              <a:endParaRPr sz="2000" b="1" dirty="0">
                <a:solidFill>
                  <a:schemeClr val="dk1"/>
                </a:solidFill>
                <a:latin typeface="Comic Sans MS"/>
                <a:ea typeface="Comic Sans MS"/>
                <a:cs typeface="Comic Sans MS"/>
                <a:sym typeface="Comic Sans MS"/>
              </a:endParaRPr>
            </a:p>
          </p:txBody>
        </p:sp>
        <p:sp>
          <p:nvSpPr>
            <p:cNvPr id="13" name="Google Shape;138;p23">
              <a:extLst>
                <a:ext uri="{FF2B5EF4-FFF2-40B4-BE49-F238E27FC236}">
                  <a16:creationId xmlns:a16="http://schemas.microsoft.com/office/drawing/2014/main" id="{298F6E67-6134-4D66-CDC4-C6BB3621434B}"/>
                </a:ext>
              </a:extLst>
            </p:cNvPr>
            <p:cNvSpPr/>
            <p:nvPr/>
          </p:nvSpPr>
          <p:spPr>
            <a:xfrm>
              <a:off x="188705" y="1456586"/>
              <a:ext cx="2559300" cy="58500"/>
            </a:xfrm>
            <a:prstGeom prst="rect">
              <a:avLst/>
            </a:prstGeom>
            <a:solidFill>
              <a:srgbClr val="C00000"/>
            </a:solid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404040"/>
                </a:solidFill>
                <a:latin typeface="Calibri"/>
                <a:ea typeface="Calibri"/>
                <a:cs typeface="Calibri"/>
                <a:sym typeface="Calibri"/>
              </a:endParaRPr>
            </a:p>
          </p:txBody>
        </p:sp>
      </p:grpSp>
      <p:sp>
        <p:nvSpPr>
          <p:cNvPr id="8" name="灯片编号占位符 7">
            <a:extLst>
              <a:ext uri="{FF2B5EF4-FFF2-40B4-BE49-F238E27FC236}">
                <a16:creationId xmlns:a16="http://schemas.microsoft.com/office/drawing/2014/main" id="{71608B99-C852-9AF5-5CBE-AC6B75239FF2}"/>
              </a:ext>
            </a:extLst>
          </p:cNvPr>
          <p:cNvSpPr>
            <a:spLocks noGrp="1"/>
          </p:cNvSpPr>
          <p:nvPr>
            <p:ph type="sldNum" sz="quarter" idx="12"/>
          </p:nvPr>
        </p:nvSpPr>
        <p:spPr/>
        <p:txBody>
          <a:bodyPr/>
          <a:lstStyle/>
          <a:p>
            <a:fld id="{F4F8D3FC-E4A1-684A-A978-3E74850AAFB0}" type="slidenum">
              <a:rPr kumimoji="1" lang="zh-CN" altLang="en-US" smtClean="0"/>
              <a:t>13</a:t>
            </a:fld>
            <a:endParaRPr kumimoji="1" lang="zh-CN" altLang="en-US" dirty="0"/>
          </a:p>
        </p:txBody>
      </p:sp>
      <p:pic>
        <p:nvPicPr>
          <p:cNvPr id="4" name="图片 3">
            <a:extLst>
              <a:ext uri="{FF2B5EF4-FFF2-40B4-BE49-F238E27FC236}">
                <a16:creationId xmlns:a16="http://schemas.microsoft.com/office/drawing/2014/main" id="{6DFEEDA2-3F7C-6A69-9758-6720AAD09085}"/>
              </a:ext>
            </a:extLst>
          </p:cNvPr>
          <p:cNvPicPr>
            <a:picLocks noChangeAspect="1"/>
          </p:cNvPicPr>
          <p:nvPr/>
        </p:nvPicPr>
        <p:blipFill>
          <a:blip r:embed="rId3"/>
          <a:stretch>
            <a:fillRect/>
          </a:stretch>
        </p:blipFill>
        <p:spPr>
          <a:xfrm>
            <a:off x="1203640" y="2189103"/>
            <a:ext cx="7772400" cy="1503233"/>
          </a:xfrm>
          <a:prstGeom prst="rect">
            <a:avLst/>
          </a:prstGeom>
        </p:spPr>
      </p:pic>
      <p:pic>
        <p:nvPicPr>
          <p:cNvPr id="6" name="图片 5">
            <a:extLst>
              <a:ext uri="{FF2B5EF4-FFF2-40B4-BE49-F238E27FC236}">
                <a16:creationId xmlns:a16="http://schemas.microsoft.com/office/drawing/2014/main" id="{ACA1FB54-EFF4-B9FD-253F-CF1CECB72B5B}"/>
              </a:ext>
            </a:extLst>
          </p:cNvPr>
          <p:cNvPicPr>
            <a:picLocks noChangeAspect="1"/>
          </p:cNvPicPr>
          <p:nvPr/>
        </p:nvPicPr>
        <p:blipFill>
          <a:blip r:embed="rId4"/>
          <a:stretch>
            <a:fillRect/>
          </a:stretch>
        </p:blipFill>
        <p:spPr>
          <a:xfrm>
            <a:off x="1367221" y="4721166"/>
            <a:ext cx="7012849" cy="1601569"/>
          </a:xfrm>
          <a:prstGeom prst="rect">
            <a:avLst/>
          </a:prstGeom>
        </p:spPr>
      </p:pic>
      <p:sp>
        <p:nvSpPr>
          <p:cNvPr id="2" name="圆角矩形 1">
            <a:extLst>
              <a:ext uri="{FF2B5EF4-FFF2-40B4-BE49-F238E27FC236}">
                <a16:creationId xmlns:a16="http://schemas.microsoft.com/office/drawing/2014/main" id="{2B1A5F87-C1F2-44A1-2E84-810ED9E6026F}"/>
              </a:ext>
            </a:extLst>
          </p:cNvPr>
          <p:cNvSpPr/>
          <p:nvPr/>
        </p:nvSpPr>
        <p:spPr>
          <a:xfrm>
            <a:off x="1367222" y="220385"/>
            <a:ext cx="10105110" cy="524933"/>
          </a:xfrm>
          <a:prstGeom prst="roundRect">
            <a:avLst/>
          </a:prstGeom>
          <a:solidFill>
            <a:srgbClr val="003C5A"/>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dirty="0">
              <a:solidFill>
                <a:srgbClr val="003C5A"/>
              </a:solidFill>
              <a:latin typeface="Arial" panose="020B0604020202020204" pitchFamily="34" charset="0"/>
              <a:cs typeface="Arial" panose="020B0604020202020204" pitchFamily="34" charset="0"/>
            </a:endParaRPr>
          </a:p>
        </p:txBody>
      </p:sp>
      <p:sp>
        <p:nvSpPr>
          <p:cNvPr id="9" name="圆角矩形 8">
            <a:extLst>
              <a:ext uri="{FF2B5EF4-FFF2-40B4-BE49-F238E27FC236}">
                <a16:creationId xmlns:a16="http://schemas.microsoft.com/office/drawing/2014/main" id="{C279B132-DE4F-A311-A974-6898153E55F9}"/>
              </a:ext>
            </a:extLst>
          </p:cNvPr>
          <p:cNvSpPr/>
          <p:nvPr/>
        </p:nvSpPr>
        <p:spPr>
          <a:xfrm>
            <a:off x="2079825" y="267648"/>
            <a:ext cx="569246"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ysClr val="windowText" lastClr="000000"/>
              </a:solidFill>
              <a:latin typeface="Arial" panose="020B0604020202020204" pitchFamily="34" charset="0"/>
              <a:cs typeface="Arial" panose="020B0604020202020204" pitchFamily="34" charset="0"/>
            </a:endParaRPr>
          </a:p>
        </p:txBody>
      </p:sp>
      <p:sp>
        <p:nvSpPr>
          <p:cNvPr id="10" name="圆角矩形 9">
            <a:extLst>
              <a:ext uri="{FF2B5EF4-FFF2-40B4-BE49-F238E27FC236}">
                <a16:creationId xmlns:a16="http://schemas.microsoft.com/office/drawing/2014/main" id="{2E9267F9-0A78-666D-7583-FAB9D67D6E22}"/>
              </a:ext>
            </a:extLst>
          </p:cNvPr>
          <p:cNvSpPr/>
          <p:nvPr/>
        </p:nvSpPr>
        <p:spPr>
          <a:xfrm>
            <a:off x="132225" y="269717"/>
            <a:ext cx="1405467" cy="4087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03C5A"/>
                </a:solidFill>
                <a:latin typeface="Arial" panose="020B0604020202020204" pitchFamily="34" charset="0"/>
                <a:cs typeface="Arial" panose="020B0604020202020204" pitchFamily="34" charset="0"/>
              </a:rPr>
              <a:t>idea</a:t>
            </a:r>
            <a:endParaRPr lang="zh-CN" altLang="en-US" dirty="0">
              <a:solidFill>
                <a:srgbClr val="003C5A"/>
              </a:solidFill>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5173412F-DB33-0E96-9779-A4CF9C2752D4}"/>
              </a:ext>
            </a:extLst>
          </p:cNvPr>
          <p:cNvSpPr txBox="1"/>
          <p:nvPr/>
        </p:nvSpPr>
        <p:spPr>
          <a:xfrm>
            <a:off x="1548905" y="298185"/>
            <a:ext cx="6329547" cy="369332"/>
          </a:xfrm>
          <a:prstGeom prst="rect">
            <a:avLst/>
          </a:prstGeom>
          <a:noFill/>
        </p:spPr>
        <p:txBody>
          <a:bodyPr wrap="square">
            <a:spAutoFit/>
          </a:bodyPr>
          <a:lstStyle/>
          <a:p>
            <a:r>
              <a:rPr lang="en" altLang="zh-CN" dirty="0">
                <a:solidFill>
                  <a:schemeClr val="bg1"/>
                </a:solidFill>
              </a:rPr>
              <a:t> </a:t>
            </a:r>
            <a:r>
              <a:rPr lang="en" altLang="zh-CN" dirty="0">
                <a:solidFill>
                  <a:schemeClr val="bg1"/>
                </a:solidFill>
                <a:latin typeface="Arial" panose="020B0604020202020204" pitchFamily="34" charset="0"/>
                <a:cs typeface="Arial" panose="020B0604020202020204" pitchFamily="34" charset="0"/>
              </a:rPr>
              <a:t>I</a:t>
            </a:r>
            <a:r>
              <a:rPr lang="zh-CN" altLang="en-US" dirty="0">
                <a:solidFill>
                  <a:schemeClr val="bg1"/>
                </a:solidFill>
                <a:latin typeface="Arial" panose="020B0604020202020204" pitchFamily="34" charset="0"/>
                <a:cs typeface="Arial" panose="020B0604020202020204" pitchFamily="34" charset="0"/>
              </a:rPr>
              <a:t>         </a:t>
            </a:r>
            <a:r>
              <a:rPr lang="en" altLang="zh-CN" dirty="0">
                <a:solidFill>
                  <a:srgbClr val="003C5A"/>
                </a:solidFill>
                <a:latin typeface="Arial" panose="020B0604020202020204" pitchFamily="34" charset="0"/>
                <a:cs typeface="Arial" panose="020B0604020202020204" pitchFamily="34" charset="0"/>
              </a:rPr>
              <a:t>II</a:t>
            </a:r>
            <a:endParaRPr lang="zh-CN" altLang="en-US" dirty="0">
              <a:solidFill>
                <a:srgbClr val="003C5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47383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F6431-8F42-E191-2F4F-E5106CF11C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66D8BC4-8EA0-D0C1-0DC8-F132565CE510}"/>
              </a:ext>
            </a:extLst>
          </p:cNvPr>
          <p:cNvSpPr>
            <a:spLocks noGrp="1"/>
          </p:cNvSpPr>
          <p:nvPr>
            <p:ph type="ctrTitle"/>
          </p:nvPr>
        </p:nvSpPr>
        <p:spPr>
          <a:xfrm>
            <a:off x="789486" y="2192213"/>
            <a:ext cx="9940290" cy="1180255"/>
          </a:xfrm>
        </p:spPr>
        <p:txBody>
          <a:bodyPr>
            <a:noAutofit/>
          </a:bodyPr>
          <a:lstStyle/>
          <a:p>
            <a:r>
              <a:rPr kumimoji="1" lang="en-US" altLang="zh-CN" sz="11500" b="1" dirty="0">
                <a:solidFill>
                  <a:srgbClr val="003C5A"/>
                </a:solidFill>
                <a:latin typeface="Arial" panose="020B0604020202020204" pitchFamily="34" charset="0"/>
              </a:rPr>
              <a:t>Q&amp;A</a:t>
            </a:r>
            <a:endParaRPr kumimoji="1" lang="zh-CN" altLang="en-US" sz="11500" b="1" dirty="0">
              <a:solidFill>
                <a:srgbClr val="003C5A"/>
              </a:solidFill>
              <a:latin typeface="Arial" panose="020B0604020202020204" pitchFamily="34" charset="0"/>
            </a:endParaRPr>
          </a:p>
        </p:txBody>
      </p:sp>
      <p:sp>
        <p:nvSpPr>
          <p:cNvPr id="3" name="副标题 2">
            <a:extLst>
              <a:ext uri="{FF2B5EF4-FFF2-40B4-BE49-F238E27FC236}">
                <a16:creationId xmlns:a16="http://schemas.microsoft.com/office/drawing/2014/main" id="{72ED1090-14A3-525D-DC8D-0E27957A1DC7}"/>
              </a:ext>
            </a:extLst>
          </p:cNvPr>
          <p:cNvSpPr>
            <a:spLocks noGrp="1"/>
          </p:cNvSpPr>
          <p:nvPr>
            <p:ph type="subTitle" idx="1"/>
          </p:nvPr>
        </p:nvSpPr>
        <p:spPr>
          <a:xfrm>
            <a:off x="1336109" y="5437910"/>
            <a:ext cx="9144000" cy="1655762"/>
          </a:xfrm>
        </p:spPr>
        <p:txBody>
          <a:bodyPr>
            <a:noAutofit/>
          </a:bodyPr>
          <a:lstStyle/>
          <a:p>
            <a:r>
              <a:rPr kumimoji="1" lang="en" altLang="zh-CN" dirty="0">
                <a:solidFill>
                  <a:srgbClr val="505050"/>
                </a:solidFill>
                <a:latin typeface="Arial" panose="020B0604020202020204" pitchFamily="34" charset="0"/>
              </a:rPr>
              <a:t>Presented by</a:t>
            </a:r>
            <a:r>
              <a:rPr kumimoji="1" lang="zh-CN" altLang="en-US" dirty="0">
                <a:solidFill>
                  <a:srgbClr val="505050"/>
                </a:solidFill>
                <a:latin typeface="Arial" panose="020B0604020202020204" pitchFamily="34" charset="0"/>
              </a:rPr>
              <a:t>：</a:t>
            </a:r>
            <a:r>
              <a:rPr kumimoji="1" lang="en-US" altLang="zh-CN" dirty="0">
                <a:solidFill>
                  <a:srgbClr val="505050"/>
                </a:solidFill>
                <a:latin typeface="Arial" panose="020B0604020202020204" pitchFamily="34" charset="0"/>
              </a:rPr>
              <a:t>Siyue Hao</a:t>
            </a:r>
            <a:br>
              <a:rPr kumimoji="1" lang="en-US" altLang="zh-CN" dirty="0">
                <a:solidFill>
                  <a:srgbClr val="505050"/>
                </a:solidFill>
                <a:latin typeface="Arial" panose="020B0604020202020204" pitchFamily="34" charset="0"/>
              </a:rPr>
            </a:br>
            <a:r>
              <a:rPr kumimoji="1" lang="en-US" altLang="zh-CN" sz="2000" dirty="0">
                <a:solidFill>
                  <a:srgbClr val="505050"/>
                </a:solidFill>
                <a:latin typeface="Arial" panose="020B0604020202020204" pitchFamily="34" charset="0"/>
              </a:rPr>
              <a:t>University of Science and Technology of China, USTC</a:t>
            </a:r>
          </a:p>
          <a:p>
            <a:r>
              <a:rPr kumimoji="1" lang="en" altLang="zh-CN" dirty="0">
                <a:solidFill>
                  <a:srgbClr val="505050"/>
                </a:solidFill>
                <a:latin typeface="Arial" panose="020B0604020202020204" pitchFamily="34" charset="0"/>
              </a:rPr>
              <a:t>June </a:t>
            </a:r>
            <a:r>
              <a:rPr kumimoji="1" lang="en-US" altLang="zh-CN" dirty="0">
                <a:solidFill>
                  <a:srgbClr val="505050"/>
                </a:solidFill>
                <a:latin typeface="Arial" panose="020B0604020202020204" pitchFamily="34" charset="0"/>
              </a:rPr>
              <a:t>3</a:t>
            </a:r>
            <a:r>
              <a:rPr kumimoji="1" lang="en" altLang="zh-CN" dirty="0">
                <a:solidFill>
                  <a:srgbClr val="505050"/>
                </a:solidFill>
                <a:latin typeface="Arial" panose="020B0604020202020204" pitchFamily="34" charset="0"/>
              </a:rPr>
              <a:t>, 2026 </a:t>
            </a:r>
            <a:r>
              <a:rPr kumimoji="1" lang="en-US" altLang="zh-CN" sz="2000" dirty="0">
                <a:solidFill>
                  <a:srgbClr val="505050"/>
                </a:solidFill>
                <a:latin typeface="Arial" panose="020B0604020202020204" pitchFamily="34" charset="0"/>
              </a:rPr>
              <a:t>
</a:t>
            </a:r>
          </a:p>
        </p:txBody>
      </p:sp>
      <p:sp>
        <p:nvSpPr>
          <p:cNvPr id="4" name="标题 1">
            <a:extLst>
              <a:ext uri="{FF2B5EF4-FFF2-40B4-BE49-F238E27FC236}">
                <a16:creationId xmlns:a16="http://schemas.microsoft.com/office/drawing/2014/main" id="{90A3A3F2-5939-72A2-AA6A-566672007B1F}"/>
              </a:ext>
            </a:extLst>
          </p:cNvPr>
          <p:cNvSpPr txBox="1">
            <a:spLocks/>
          </p:cNvSpPr>
          <p:nvPr/>
        </p:nvSpPr>
        <p:spPr>
          <a:xfrm>
            <a:off x="643727" y="4257658"/>
            <a:ext cx="9940290" cy="59012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kumimoji="1" lang="en" altLang="zh-CN" sz="1800" i="1" dirty="0">
                <a:solidFill>
                  <a:srgbClr val="003C5A"/>
                </a:solidFill>
                <a:latin typeface="Arial" panose="020B0604020202020204" pitchFamily="34" charset="0"/>
              </a:rPr>
              <a:t>StarTeam</a:t>
            </a:r>
            <a:r>
              <a:rPr lang="en" altLang="zh-CN" sz="2000" i="1" dirty="0"/>
              <a:t> </a:t>
            </a:r>
            <a:r>
              <a:rPr kumimoji="1" lang="en" altLang="zh-CN" sz="1800" i="1" dirty="0">
                <a:solidFill>
                  <a:srgbClr val="003C5A"/>
                </a:solidFill>
                <a:latin typeface="Arial" panose="020B0604020202020204" pitchFamily="34" charset="0"/>
              </a:rPr>
              <a:t>Interview</a:t>
            </a:r>
            <a:endParaRPr kumimoji="1" lang="zh-CN" altLang="en-US" sz="1800" i="1" dirty="0">
              <a:solidFill>
                <a:srgbClr val="003C5A"/>
              </a:solidFill>
              <a:latin typeface="Arial" panose="020B0604020202020204" pitchFamily="34" charset="0"/>
            </a:endParaRPr>
          </a:p>
        </p:txBody>
      </p:sp>
    </p:spTree>
    <p:extLst>
      <p:ext uri="{BB962C8B-B14F-4D97-AF65-F5344CB8AC3E}">
        <p14:creationId xmlns:p14="http://schemas.microsoft.com/office/powerpoint/2010/main" val="292826133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B7B3-E60D-B7F5-9C46-E69251E0C3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3BA582-63A2-B46C-D13A-E77C45CA5FC3}"/>
              </a:ext>
            </a:extLst>
          </p:cNvPr>
          <p:cNvSpPr>
            <a:spLocks noGrp="1"/>
          </p:cNvSpPr>
          <p:nvPr>
            <p:ph type="ctrTitle"/>
          </p:nvPr>
        </p:nvSpPr>
        <p:spPr>
          <a:xfrm>
            <a:off x="789486" y="2192213"/>
            <a:ext cx="9940290" cy="1180255"/>
          </a:xfrm>
        </p:spPr>
        <p:txBody>
          <a:bodyPr>
            <a:noAutofit/>
          </a:bodyPr>
          <a:lstStyle/>
          <a:p>
            <a:r>
              <a:rPr kumimoji="1" lang="en-US" altLang="zh-CN" sz="11500" b="1" dirty="0">
                <a:solidFill>
                  <a:srgbClr val="003C5A"/>
                </a:solidFill>
                <a:latin typeface="Arial" panose="020B0604020202020204" pitchFamily="34" charset="0"/>
              </a:rPr>
              <a:t>Thanks!</a:t>
            </a:r>
            <a:endParaRPr kumimoji="1" lang="zh-CN" altLang="en-US" sz="11500" b="1" dirty="0">
              <a:solidFill>
                <a:srgbClr val="003C5A"/>
              </a:solidFill>
              <a:latin typeface="Arial" panose="020B0604020202020204" pitchFamily="34" charset="0"/>
            </a:endParaRPr>
          </a:p>
        </p:txBody>
      </p:sp>
      <p:sp>
        <p:nvSpPr>
          <p:cNvPr id="3" name="副标题 2">
            <a:extLst>
              <a:ext uri="{FF2B5EF4-FFF2-40B4-BE49-F238E27FC236}">
                <a16:creationId xmlns:a16="http://schemas.microsoft.com/office/drawing/2014/main" id="{4FD06FBB-8FF6-D00E-E7E1-9207CEEEAA7A}"/>
              </a:ext>
            </a:extLst>
          </p:cNvPr>
          <p:cNvSpPr>
            <a:spLocks noGrp="1"/>
          </p:cNvSpPr>
          <p:nvPr>
            <p:ph type="subTitle" idx="1"/>
          </p:nvPr>
        </p:nvSpPr>
        <p:spPr>
          <a:xfrm>
            <a:off x="1336109" y="5437910"/>
            <a:ext cx="9144000" cy="1655762"/>
          </a:xfrm>
        </p:spPr>
        <p:txBody>
          <a:bodyPr>
            <a:noAutofit/>
          </a:bodyPr>
          <a:lstStyle/>
          <a:p>
            <a:r>
              <a:rPr kumimoji="1" lang="en" altLang="zh-CN" dirty="0">
                <a:solidFill>
                  <a:srgbClr val="505050"/>
                </a:solidFill>
                <a:latin typeface="Arial" panose="020B0604020202020204" pitchFamily="34" charset="0"/>
              </a:rPr>
              <a:t>Presented by</a:t>
            </a:r>
            <a:r>
              <a:rPr kumimoji="1" lang="zh-CN" altLang="en-US" dirty="0">
                <a:solidFill>
                  <a:srgbClr val="505050"/>
                </a:solidFill>
                <a:latin typeface="Arial" panose="020B0604020202020204" pitchFamily="34" charset="0"/>
              </a:rPr>
              <a:t>：</a:t>
            </a:r>
            <a:r>
              <a:rPr kumimoji="1" lang="en-US" altLang="zh-CN" dirty="0">
                <a:solidFill>
                  <a:srgbClr val="505050"/>
                </a:solidFill>
                <a:latin typeface="Arial" panose="020B0604020202020204" pitchFamily="34" charset="0"/>
              </a:rPr>
              <a:t>Siyue Hao</a:t>
            </a:r>
            <a:br>
              <a:rPr kumimoji="1" lang="en-US" altLang="zh-CN" dirty="0">
                <a:solidFill>
                  <a:srgbClr val="505050"/>
                </a:solidFill>
                <a:latin typeface="Arial" panose="020B0604020202020204" pitchFamily="34" charset="0"/>
              </a:rPr>
            </a:br>
            <a:r>
              <a:rPr kumimoji="1" lang="en-US" altLang="zh-CN" sz="2000" dirty="0">
                <a:solidFill>
                  <a:srgbClr val="505050"/>
                </a:solidFill>
                <a:latin typeface="Arial" panose="020B0604020202020204" pitchFamily="34" charset="0"/>
              </a:rPr>
              <a:t>University of Science and Technology of China, USTC</a:t>
            </a:r>
          </a:p>
          <a:p>
            <a:r>
              <a:rPr kumimoji="1" lang="en" altLang="zh-CN" dirty="0">
                <a:solidFill>
                  <a:srgbClr val="505050"/>
                </a:solidFill>
                <a:latin typeface="Arial" panose="020B0604020202020204" pitchFamily="34" charset="0"/>
              </a:rPr>
              <a:t>June </a:t>
            </a:r>
            <a:r>
              <a:rPr kumimoji="1" lang="en-US" altLang="zh-CN" dirty="0">
                <a:solidFill>
                  <a:srgbClr val="505050"/>
                </a:solidFill>
                <a:latin typeface="Arial" panose="020B0604020202020204" pitchFamily="34" charset="0"/>
              </a:rPr>
              <a:t>3</a:t>
            </a:r>
            <a:r>
              <a:rPr kumimoji="1" lang="en" altLang="zh-CN" dirty="0">
                <a:solidFill>
                  <a:srgbClr val="505050"/>
                </a:solidFill>
                <a:latin typeface="Arial" panose="020B0604020202020204" pitchFamily="34" charset="0"/>
              </a:rPr>
              <a:t>, 2026 </a:t>
            </a:r>
            <a:r>
              <a:rPr kumimoji="1" lang="en-US" altLang="zh-CN" sz="2000" dirty="0">
                <a:solidFill>
                  <a:srgbClr val="505050"/>
                </a:solidFill>
                <a:latin typeface="Arial" panose="020B0604020202020204" pitchFamily="34" charset="0"/>
              </a:rPr>
              <a:t>
</a:t>
            </a:r>
          </a:p>
        </p:txBody>
      </p:sp>
      <p:sp>
        <p:nvSpPr>
          <p:cNvPr id="5" name="标题 1">
            <a:extLst>
              <a:ext uri="{FF2B5EF4-FFF2-40B4-BE49-F238E27FC236}">
                <a16:creationId xmlns:a16="http://schemas.microsoft.com/office/drawing/2014/main" id="{4F532CCD-32EF-0839-D78E-224AB71533E6}"/>
              </a:ext>
            </a:extLst>
          </p:cNvPr>
          <p:cNvSpPr txBox="1">
            <a:spLocks/>
          </p:cNvSpPr>
          <p:nvPr/>
        </p:nvSpPr>
        <p:spPr>
          <a:xfrm>
            <a:off x="796127" y="4410058"/>
            <a:ext cx="9940290" cy="59012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kumimoji="1" lang="en" altLang="zh-CN" sz="1800" i="1" dirty="0">
                <a:solidFill>
                  <a:srgbClr val="003C5A"/>
                </a:solidFill>
                <a:latin typeface="Arial" panose="020B0604020202020204" pitchFamily="34" charset="0"/>
              </a:rPr>
              <a:t>StarTeam</a:t>
            </a:r>
            <a:r>
              <a:rPr lang="en" altLang="zh-CN" sz="2000" i="1" dirty="0"/>
              <a:t> </a:t>
            </a:r>
            <a:r>
              <a:rPr kumimoji="1" lang="en" altLang="zh-CN" sz="1800" i="1" dirty="0">
                <a:solidFill>
                  <a:srgbClr val="003C5A"/>
                </a:solidFill>
                <a:latin typeface="Arial" panose="020B0604020202020204" pitchFamily="34" charset="0"/>
              </a:rPr>
              <a:t>Interview</a:t>
            </a:r>
            <a:endParaRPr kumimoji="1" lang="zh-CN" altLang="en-US" sz="1800" i="1" dirty="0">
              <a:solidFill>
                <a:srgbClr val="003C5A"/>
              </a:solidFill>
              <a:latin typeface="Arial" panose="020B0604020202020204" pitchFamily="34" charset="0"/>
            </a:endParaRPr>
          </a:p>
        </p:txBody>
      </p:sp>
    </p:spTree>
    <p:extLst>
      <p:ext uri="{BB962C8B-B14F-4D97-AF65-F5344CB8AC3E}">
        <p14:creationId xmlns:p14="http://schemas.microsoft.com/office/powerpoint/2010/main" val="415040867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8885</TotalTime>
  <Words>817</Words>
  <Application>Microsoft Macintosh PowerPoint</Application>
  <PresentationFormat>宽屏</PresentationFormat>
  <Paragraphs>163</Paragraphs>
  <Slides>16</Slides>
  <Notes>16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等线 Light</vt:lpstr>
      <vt:lpstr>Arial</vt:lpstr>
      <vt:lpstr>Calibri</vt:lpstr>
      <vt:lpstr>Comic Sans MS</vt:lpstr>
      <vt:lpstr>Office 主题​​</vt:lpstr>
      <vt:lpstr>文献阅读汇报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Q&amp;A</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8618999381865</dc:creator>
  <cp:lastModifiedBy>8618999381865</cp:lastModifiedBy>
  <cp:revision>77</cp:revision>
  <dcterms:created xsi:type="dcterms:W3CDTF">2026-04-24T06:03:32Z</dcterms:created>
  <dcterms:modified xsi:type="dcterms:W3CDTF">2026-06-08T13:33:05Z</dcterms:modified>
</cp:coreProperties>
</file>